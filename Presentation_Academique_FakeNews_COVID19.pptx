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698480" cy="1463040"/>
          </a:xfrm>
          <a:prstGeom prst="rect">
            <a:avLst/>
          </a:prstGeom>
          <a:noFill/>
        </p:spPr>
        <p:txBody>
          <a:bodyPr wrap="square">
            <a:spAutoFit/>
          </a:bodyPr>
          <a:lstStyle/>
          <a:p>
            <a:pPr algn="ctr"/>
            <a:r>
              <a:rPr sz="3600" b="1" i="0">
                <a:solidFill>
                  <a:srgbClr val="FFFFFF"/>
                </a:solidFill>
              </a:rPr>
              <a:t>Détection Automatique de Fausses Informations COVID-19
par Apprentissage Automatique</a:t>
            </a:r>
          </a:p>
        </p:txBody>
      </p:sp>
      <p:sp>
        <p:nvSpPr>
          <p:cNvPr id="5" name="Rectangle 4"/>
          <p:cNvSpPr/>
          <p:nvPr/>
        </p:nvSpPr>
        <p:spPr>
          <a:xfrm>
            <a:off x="320040" y="2743200"/>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834640"/>
            <a:ext cx="10698480" cy="822960"/>
          </a:xfrm>
          <a:prstGeom prst="rect">
            <a:avLst/>
          </a:prstGeom>
          <a:noFill/>
        </p:spPr>
        <p:txBody>
          <a:bodyPr wrap="square">
            <a:spAutoFit/>
          </a:bodyPr>
          <a:lstStyle/>
          <a:p>
            <a:pPr algn="ctr"/>
            <a:r>
              <a:rPr sz="2000" b="0" i="1">
                <a:solidFill>
                  <a:srgbClr val="CAE9FF"/>
                </a:solidFill>
              </a:rPr>
              <a:t>Comparaison de modèles classiques et Transformers
avec analyse d'explicabilité (XAI)</a:t>
            </a:r>
          </a:p>
        </p:txBody>
      </p:sp>
      <p:sp>
        <p:nvSpPr>
          <p:cNvPr id="7" name="TextBox 6"/>
          <p:cNvSpPr txBox="1"/>
          <p:nvPr/>
        </p:nvSpPr>
        <p:spPr>
          <a:xfrm>
            <a:off x="731520" y="3840480"/>
            <a:ext cx="10698480" cy="457200"/>
          </a:xfrm>
          <a:prstGeom prst="rect">
            <a:avLst/>
          </a:prstGeom>
          <a:noFill/>
        </p:spPr>
        <p:txBody>
          <a:bodyPr wrap="square">
            <a:spAutoFit/>
          </a:bodyPr>
          <a:lstStyle/>
          <a:p>
            <a:pPr algn="ctr"/>
            <a:r>
              <a:rPr sz="1400" b="0" i="0">
                <a:solidFill>
                  <a:srgbClr val="00B4D8"/>
                </a:solidFill>
              </a:rPr>
              <a:t>Youssef Benmabrouk  |  4CS  |  Encadrant : Mme Nadia  |  Mai 2026</a:t>
            </a:r>
          </a:p>
        </p:txBody>
      </p:sp>
      <p:sp>
        <p:nvSpPr>
          <p:cNvPr id="8" name="Rectangle 7"/>
          <p:cNvSpPr/>
          <p:nvPr/>
        </p:nvSpPr>
        <p:spPr>
          <a:xfrm>
            <a:off x="425196" y="5120640"/>
            <a:ext cx="1344168"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6" y="5138928"/>
            <a:ext cx="1344168" cy="438912"/>
          </a:xfrm>
          <a:prstGeom prst="rect">
            <a:avLst/>
          </a:prstGeom>
          <a:noFill/>
        </p:spPr>
        <p:txBody>
          <a:bodyPr wrap="square">
            <a:spAutoFit/>
          </a:bodyPr>
          <a:lstStyle/>
          <a:p>
            <a:pPr algn="ctr"/>
            <a:r>
              <a:rPr sz="1100" b="1" i="0">
                <a:solidFill>
                  <a:srgbClr val="0D1B2A"/>
                </a:solidFill>
              </a:rPr>
              <a:t>Infodémie COVID-19</a:t>
            </a:r>
          </a:p>
        </p:txBody>
      </p:sp>
      <p:sp>
        <p:nvSpPr>
          <p:cNvPr id="10" name="Rectangle 9"/>
          <p:cNvSpPr/>
          <p:nvPr/>
        </p:nvSpPr>
        <p:spPr>
          <a:xfrm>
            <a:off x="1842516" y="5120640"/>
            <a:ext cx="1344168"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42516" y="5138928"/>
            <a:ext cx="1344168" cy="438912"/>
          </a:xfrm>
          <a:prstGeom prst="rect">
            <a:avLst/>
          </a:prstGeom>
          <a:noFill/>
        </p:spPr>
        <p:txBody>
          <a:bodyPr wrap="square">
            <a:spAutoFit/>
          </a:bodyPr>
          <a:lstStyle/>
          <a:p>
            <a:pPr algn="ctr"/>
            <a:r>
              <a:rPr sz="1100" b="1" i="0">
                <a:solidFill>
                  <a:srgbClr val="0D1B2A"/>
                </a:solidFill>
              </a:rPr>
              <a:t>NLP</a:t>
            </a:r>
          </a:p>
        </p:txBody>
      </p:sp>
      <p:sp>
        <p:nvSpPr>
          <p:cNvPr id="12" name="Rectangle 11"/>
          <p:cNvSpPr/>
          <p:nvPr/>
        </p:nvSpPr>
        <p:spPr>
          <a:xfrm>
            <a:off x="3259836" y="5120640"/>
            <a:ext cx="1344168"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9836" y="5138928"/>
            <a:ext cx="1344168" cy="438912"/>
          </a:xfrm>
          <a:prstGeom prst="rect">
            <a:avLst/>
          </a:prstGeom>
          <a:noFill/>
        </p:spPr>
        <p:txBody>
          <a:bodyPr wrap="square">
            <a:spAutoFit/>
          </a:bodyPr>
          <a:lstStyle/>
          <a:p>
            <a:pPr algn="ctr"/>
            <a:r>
              <a:rPr sz="1100" b="1" i="0">
                <a:solidFill>
                  <a:srgbClr val="0D1B2A"/>
                </a:solidFill>
              </a:rPr>
              <a:t>SVM</a:t>
            </a:r>
          </a:p>
        </p:txBody>
      </p:sp>
      <p:sp>
        <p:nvSpPr>
          <p:cNvPr id="14" name="Rectangle 13"/>
          <p:cNvSpPr/>
          <p:nvPr/>
        </p:nvSpPr>
        <p:spPr>
          <a:xfrm>
            <a:off x="4677156" y="5120640"/>
            <a:ext cx="1344168"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7156" y="5138928"/>
            <a:ext cx="1344168" cy="438912"/>
          </a:xfrm>
          <a:prstGeom prst="rect">
            <a:avLst/>
          </a:prstGeom>
          <a:noFill/>
        </p:spPr>
        <p:txBody>
          <a:bodyPr wrap="square">
            <a:spAutoFit/>
          </a:bodyPr>
          <a:lstStyle/>
          <a:p>
            <a:pPr algn="ctr"/>
            <a:r>
              <a:rPr sz="1100" b="1" i="0">
                <a:solidFill>
                  <a:srgbClr val="0D1B2A"/>
                </a:solidFill>
              </a:rPr>
              <a:t>DistilBERT</a:t>
            </a:r>
          </a:p>
        </p:txBody>
      </p:sp>
      <p:sp>
        <p:nvSpPr>
          <p:cNvPr id="16" name="Rectangle 15"/>
          <p:cNvSpPr/>
          <p:nvPr/>
        </p:nvSpPr>
        <p:spPr>
          <a:xfrm>
            <a:off x="6094476" y="5120640"/>
            <a:ext cx="1344168"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4476" y="5138928"/>
            <a:ext cx="1344168" cy="438912"/>
          </a:xfrm>
          <a:prstGeom prst="rect">
            <a:avLst/>
          </a:prstGeom>
          <a:noFill/>
        </p:spPr>
        <p:txBody>
          <a:bodyPr wrap="square">
            <a:spAutoFit/>
          </a:bodyPr>
          <a:lstStyle/>
          <a:p>
            <a:pPr algn="ctr"/>
            <a:r>
              <a:rPr sz="1100" b="1" i="0">
                <a:solidFill>
                  <a:srgbClr val="0D1B2A"/>
                </a:solidFill>
              </a:rPr>
              <a:t>TF-IDF</a:t>
            </a:r>
          </a:p>
        </p:txBody>
      </p:sp>
      <p:sp>
        <p:nvSpPr>
          <p:cNvPr id="18" name="Rectangle 17"/>
          <p:cNvSpPr/>
          <p:nvPr/>
        </p:nvSpPr>
        <p:spPr>
          <a:xfrm>
            <a:off x="7511796" y="5120640"/>
            <a:ext cx="1344168"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1796" y="5138928"/>
            <a:ext cx="1344168" cy="438912"/>
          </a:xfrm>
          <a:prstGeom prst="rect">
            <a:avLst/>
          </a:prstGeom>
          <a:noFill/>
        </p:spPr>
        <p:txBody>
          <a:bodyPr wrap="square">
            <a:spAutoFit/>
          </a:bodyPr>
          <a:lstStyle/>
          <a:p>
            <a:pPr algn="ctr"/>
            <a:r>
              <a:rPr sz="1100" b="1" i="0">
                <a:solidFill>
                  <a:srgbClr val="0D1B2A"/>
                </a:solidFill>
              </a:rPr>
              <a:t>LIME</a:t>
            </a:r>
          </a:p>
        </p:txBody>
      </p:sp>
      <p:sp>
        <p:nvSpPr>
          <p:cNvPr id="20" name="Rectangle 19"/>
          <p:cNvSpPr/>
          <p:nvPr/>
        </p:nvSpPr>
        <p:spPr>
          <a:xfrm>
            <a:off x="8929116" y="5120640"/>
            <a:ext cx="1344168"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29116" y="5138928"/>
            <a:ext cx="1344168" cy="438912"/>
          </a:xfrm>
          <a:prstGeom prst="rect">
            <a:avLst/>
          </a:prstGeom>
          <a:noFill/>
        </p:spPr>
        <p:txBody>
          <a:bodyPr wrap="square">
            <a:spAutoFit/>
          </a:bodyPr>
          <a:lstStyle/>
          <a:p>
            <a:pPr algn="ctr"/>
            <a:r>
              <a:rPr sz="1100" b="1" i="0">
                <a:solidFill>
                  <a:srgbClr val="0D1B2A"/>
                </a:solidFill>
              </a:rPr>
              <a:t>SHAP</a:t>
            </a:r>
          </a:p>
        </p:txBody>
      </p:sp>
      <p:sp>
        <p:nvSpPr>
          <p:cNvPr id="22" name="Rectangle 21"/>
          <p:cNvSpPr/>
          <p:nvPr/>
        </p:nvSpPr>
        <p:spPr>
          <a:xfrm>
            <a:off x="10346436" y="5120640"/>
            <a:ext cx="1344168"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46436" y="5138928"/>
            <a:ext cx="1344168" cy="438912"/>
          </a:xfrm>
          <a:prstGeom prst="rect">
            <a:avLst/>
          </a:prstGeom>
          <a:noFill/>
        </p:spPr>
        <p:txBody>
          <a:bodyPr wrap="square">
            <a:spAutoFit/>
          </a:bodyPr>
          <a:lstStyle/>
          <a:p>
            <a:pPr algn="ctr"/>
            <a:r>
              <a:rPr sz="1100" b="1" i="0">
                <a:solidFill>
                  <a:srgbClr val="0D1B2A"/>
                </a:solidFill>
              </a:rPr>
              <a:t>XAI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Plan de la Présentation</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502920" cy="6035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060704"/>
            <a:ext cx="502920" cy="566928"/>
          </a:xfrm>
          <a:prstGeom prst="rect">
            <a:avLst/>
          </a:prstGeom>
          <a:noFill/>
        </p:spPr>
        <p:txBody>
          <a:bodyPr wrap="square">
            <a:spAutoFit/>
          </a:bodyPr>
          <a:lstStyle/>
          <a:p>
            <a:pPr algn="ctr"/>
            <a:r>
              <a:rPr sz="1600" b="1" i="0">
                <a:solidFill>
                  <a:srgbClr val="0D1B2A"/>
                </a:solidFill>
              </a:rPr>
              <a:t>01</a:t>
            </a:r>
          </a:p>
        </p:txBody>
      </p:sp>
      <p:sp>
        <p:nvSpPr>
          <p:cNvPr id="9" name="TextBox 8"/>
          <p:cNvSpPr txBox="1"/>
          <p:nvPr/>
        </p:nvSpPr>
        <p:spPr>
          <a:xfrm>
            <a:off x="886968" y="1005840"/>
            <a:ext cx="5212080" cy="365760"/>
          </a:xfrm>
          <a:prstGeom prst="rect">
            <a:avLst/>
          </a:prstGeom>
          <a:noFill/>
        </p:spPr>
        <p:txBody>
          <a:bodyPr wrap="square">
            <a:spAutoFit/>
          </a:bodyPr>
          <a:lstStyle/>
          <a:p>
            <a:pPr algn="l"/>
            <a:r>
              <a:rPr sz="1400" b="1" i="0">
                <a:solidFill>
                  <a:srgbClr val="FFFFFF"/>
                </a:solidFill>
              </a:rPr>
              <a:t>Introduction</a:t>
            </a:r>
          </a:p>
        </p:txBody>
      </p:sp>
      <p:sp>
        <p:nvSpPr>
          <p:cNvPr id="10" name="TextBox 9"/>
          <p:cNvSpPr txBox="1"/>
          <p:nvPr/>
        </p:nvSpPr>
        <p:spPr>
          <a:xfrm>
            <a:off x="886968" y="1325880"/>
            <a:ext cx="5212080" cy="347472"/>
          </a:xfrm>
          <a:prstGeom prst="rect">
            <a:avLst/>
          </a:prstGeom>
          <a:noFill/>
        </p:spPr>
        <p:txBody>
          <a:bodyPr wrap="square">
            <a:spAutoFit/>
          </a:bodyPr>
          <a:lstStyle/>
          <a:p>
            <a:pPr algn="l"/>
            <a:r>
              <a:rPr sz="1000" b="0" i="1">
                <a:solidFill>
                  <a:srgbClr val="CAE9FF"/>
                </a:solidFill>
              </a:rPr>
              <a:t>Contexte · Infodémie · Problématique · Contributions</a:t>
            </a:r>
          </a:p>
        </p:txBody>
      </p:sp>
      <p:sp>
        <p:nvSpPr>
          <p:cNvPr id="11" name="Rectangle 10"/>
          <p:cNvSpPr/>
          <p:nvPr/>
        </p:nvSpPr>
        <p:spPr>
          <a:xfrm>
            <a:off x="274320" y="1664208"/>
            <a:ext cx="502920" cy="6035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1719072"/>
            <a:ext cx="502920" cy="566928"/>
          </a:xfrm>
          <a:prstGeom prst="rect">
            <a:avLst/>
          </a:prstGeom>
          <a:noFill/>
        </p:spPr>
        <p:txBody>
          <a:bodyPr wrap="square">
            <a:spAutoFit/>
          </a:bodyPr>
          <a:lstStyle/>
          <a:p>
            <a:pPr algn="ctr"/>
            <a:r>
              <a:rPr sz="1600" b="1" i="0">
                <a:solidFill>
                  <a:srgbClr val="0D1B2A"/>
                </a:solidFill>
              </a:rPr>
              <a:t>02</a:t>
            </a:r>
          </a:p>
        </p:txBody>
      </p:sp>
      <p:sp>
        <p:nvSpPr>
          <p:cNvPr id="13" name="TextBox 12"/>
          <p:cNvSpPr txBox="1"/>
          <p:nvPr/>
        </p:nvSpPr>
        <p:spPr>
          <a:xfrm>
            <a:off x="886968" y="1664208"/>
            <a:ext cx="5212080" cy="365760"/>
          </a:xfrm>
          <a:prstGeom prst="rect">
            <a:avLst/>
          </a:prstGeom>
          <a:noFill/>
        </p:spPr>
        <p:txBody>
          <a:bodyPr wrap="square">
            <a:spAutoFit/>
          </a:bodyPr>
          <a:lstStyle/>
          <a:p>
            <a:pPr algn="l"/>
            <a:r>
              <a:rPr sz="1400" b="1" i="0">
                <a:solidFill>
                  <a:srgbClr val="FFFFFF"/>
                </a:solidFill>
              </a:rPr>
              <a:t>État de l'art</a:t>
            </a:r>
          </a:p>
        </p:txBody>
      </p:sp>
      <p:sp>
        <p:nvSpPr>
          <p:cNvPr id="14" name="TextBox 13"/>
          <p:cNvSpPr txBox="1"/>
          <p:nvPr/>
        </p:nvSpPr>
        <p:spPr>
          <a:xfrm>
            <a:off x="886968" y="1984248"/>
            <a:ext cx="5212080" cy="347472"/>
          </a:xfrm>
          <a:prstGeom prst="rect">
            <a:avLst/>
          </a:prstGeom>
          <a:noFill/>
        </p:spPr>
        <p:txBody>
          <a:bodyPr wrap="square">
            <a:spAutoFit/>
          </a:bodyPr>
          <a:lstStyle/>
          <a:p>
            <a:pPr algn="l"/>
            <a:r>
              <a:rPr sz="1000" b="0" i="1">
                <a:solidFill>
                  <a:srgbClr val="CAE9FF"/>
                </a:solidFill>
              </a:rPr>
              <a:t>Fake news detection 2017–2021 · BERT · Constraint</a:t>
            </a:r>
          </a:p>
        </p:txBody>
      </p:sp>
      <p:sp>
        <p:nvSpPr>
          <p:cNvPr id="15" name="Rectangle 14"/>
          <p:cNvSpPr/>
          <p:nvPr/>
        </p:nvSpPr>
        <p:spPr>
          <a:xfrm>
            <a:off x="274320" y="2322576"/>
            <a:ext cx="502920" cy="6035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2377440"/>
            <a:ext cx="502920" cy="566928"/>
          </a:xfrm>
          <a:prstGeom prst="rect">
            <a:avLst/>
          </a:prstGeom>
          <a:noFill/>
        </p:spPr>
        <p:txBody>
          <a:bodyPr wrap="square">
            <a:spAutoFit/>
          </a:bodyPr>
          <a:lstStyle/>
          <a:p>
            <a:pPr algn="ctr"/>
            <a:r>
              <a:rPr sz="1600" b="1" i="0">
                <a:solidFill>
                  <a:srgbClr val="0D1B2A"/>
                </a:solidFill>
              </a:rPr>
              <a:t>03</a:t>
            </a:r>
          </a:p>
        </p:txBody>
      </p:sp>
      <p:sp>
        <p:nvSpPr>
          <p:cNvPr id="17" name="TextBox 16"/>
          <p:cNvSpPr txBox="1"/>
          <p:nvPr/>
        </p:nvSpPr>
        <p:spPr>
          <a:xfrm>
            <a:off x="886968" y="2322576"/>
            <a:ext cx="5212080" cy="365760"/>
          </a:xfrm>
          <a:prstGeom prst="rect">
            <a:avLst/>
          </a:prstGeom>
          <a:noFill/>
        </p:spPr>
        <p:txBody>
          <a:bodyPr wrap="square">
            <a:spAutoFit/>
          </a:bodyPr>
          <a:lstStyle/>
          <a:p>
            <a:pPr algn="l"/>
            <a:r>
              <a:rPr sz="1400" b="1" i="0">
                <a:solidFill>
                  <a:srgbClr val="FFFFFF"/>
                </a:solidFill>
              </a:rPr>
              <a:t>Dataset &amp; Prétraitement</a:t>
            </a:r>
          </a:p>
        </p:txBody>
      </p:sp>
      <p:sp>
        <p:nvSpPr>
          <p:cNvPr id="18" name="TextBox 17"/>
          <p:cNvSpPr txBox="1"/>
          <p:nvPr/>
        </p:nvSpPr>
        <p:spPr>
          <a:xfrm>
            <a:off x="886968" y="2642616"/>
            <a:ext cx="5212080" cy="347472"/>
          </a:xfrm>
          <a:prstGeom prst="rect">
            <a:avLst/>
          </a:prstGeom>
          <a:noFill/>
        </p:spPr>
        <p:txBody>
          <a:bodyPr wrap="square">
            <a:spAutoFit/>
          </a:bodyPr>
          <a:lstStyle/>
          <a:p>
            <a:pPr algn="l"/>
            <a:r>
              <a:rPr sz="1000" b="0" i="1">
                <a:solidFill>
                  <a:srgbClr val="CAE9FF"/>
                </a:solidFill>
              </a:rPr>
              <a:t>Constraint COVID-19 · Nettoyage · TF-IDF · Features</a:t>
            </a:r>
          </a:p>
        </p:txBody>
      </p:sp>
      <p:sp>
        <p:nvSpPr>
          <p:cNvPr id="19" name="Rectangle 18"/>
          <p:cNvSpPr/>
          <p:nvPr/>
        </p:nvSpPr>
        <p:spPr>
          <a:xfrm>
            <a:off x="274320" y="2980944"/>
            <a:ext cx="502920" cy="6035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3035808"/>
            <a:ext cx="502920" cy="566928"/>
          </a:xfrm>
          <a:prstGeom prst="rect">
            <a:avLst/>
          </a:prstGeom>
          <a:noFill/>
        </p:spPr>
        <p:txBody>
          <a:bodyPr wrap="square">
            <a:spAutoFit/>
          </a:bodyPr>
          <a:lstStyle/>
          <a:p>
            <a:pPr algn="ctr"/>
            <a:r>
              <a:rPr sz="1600" b="1" i="0">
                <a:solidFill>
                  <a:srgbClr val="0D1B2A"/>
                </a:solidFill>
              </a:rPr>
              <a:t>04</a:t>
            </a:r>
          </a:p>
        </p:txBody>
      </p:sp>
      <p:sp>
        <p:nvSpPr>
          <p:cNvPr id="21" name="TextBox 20"/>
          <p:cNvSpPr txBox="1"/>
          <p:nvPr/>
        </p:nvSpPr>
        <p:spPr>
          <a:xfrm>
            <a:off x="886968" y="2980944"/>
            <a:ext cx="5212080" cy="365760"/>
          </a:xfrm>
          <a:prstGeom prst="rect">
            <a:avLst/>
          </a:prstGeom>
          <a:noFill/>
        </p:spPr>
        <p:txBody>
          <a:bodyPr wrap="square">
            <a:spAutoFit/>
          </a:bodyPr>
          <a:lstStyle/>
          <a:p>
            <a:pPr algn="l"/>
            <a:r>
              <a:rPr sz="1400" b="1" i="0">
                <a:solidFill>
                  <a:srgbClr val="FFFFFF"/>
                </a:solidFill>
              </a:rPr>
              <a:t>Architectures des modèles</a:t>
            </a:r>
          </a:p>
        </p:txBody>
      </p:sp>
      <p:sp>
        <p:nvSpPr>
          <p:cNvPr id="22" name="TextBox 21"/>
          <p:cNvSpPr txBox="1"/>
          <p:nvPr/>
        </p:nvSpPr>
        <p:spPr>
          <a:xfrm>
            <a:off x="886968" y="3300984"/>
            <a:ext cx="5212080" cy="347472"/>
          </a:xfrm>
          <a:prstGeom prst="rect">
            <a:avLst/>
          </a:prstGeom>
          <a:noFill/>
        </p:spPr>
        <p:txBody>
          <a:bodyPr wrap="square">
            <a:spAutoFit/>
          </a:bodyPr>
          <a:lstStyle/>
          <a:p>
            <a:pPr algn="l"/>
            <a:r>
              <a:rPr sz="1000" b="0" i="1">
                <a:solidFill>
                  <a:srgbClr val="CAE9FF"/>
                </a:solidFill>
              </a:rPr>
              <a:t>SVM · LR · RF · XGBoost · DistilBERT</a:t>
            </a:r>
          </a:p>
        </p:txBody>
      </p:sp>
      <p:sp>
        <p:nvSpPr>
          <p:cNvPr id="23" name="Rectangle 22"/>
          <p:cNvSpPr/>
          <p:nvPr/>
        </p:nvSpPr>
        <p:spPr>
          <a:xfrm>
            <a:off x="6400800" y="1005840"/>
            <a:ext cx="502920" cy="6035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1060704"/>
            <a:ext cx="502920" cy="566928"/>
          </a:xfrm>
          <a:prstGeom prst="rect">
            <a:avLst/>
          </a:prstGeom>
          <a:noFill/>
        </p:spPr>
        <p:txBody>
          <a:bodyPr wrap="square">
            <a:spAutoFit/>
          </a:bodyPr>
          <a:lstStyle/>
          <a:p>
            <a:pPr algn="ctr"/>
            <a:r>
              <a:rPr sz="1600" b="1" i="0">
                <a:solidFill>
                  <a:srgbClr val="0D1B2A"/>
                </a:solidFill>
              </a:rPr>
              <a:t>05</a:t>
            </a:r>
          </a:p>
        </p:txBody>
      </p:sp>
      <p:sp>
        <p:nvSpPr>
          <p:cNvPr id="25" name="TextBox 24"/>
          <p:cNvSpPr txBox="1"/>
          <p:nvPr/>
        </p:nvSpPr>
        <p:spPr>
          <a:xfrm>
            <a:off x="7013448" y="1005840"/>
            <a:ext cx="4937760" cy="365760"/>
          </a:xfrm>
          <a:prstGeom prst="rect">
            <a:avLst/>
          </a:prstGeom>
          <a:noFill/>
        </p:spPr>
        <p:txBody>
          <a:bodyPr wrap="square">
            <a:spAutoFit/>
          </a:bodyPr>
          <a:lstStyle/>
          <a:p>
            <a:pPr algn="l"/>
            <a:r>
              <a:rPr sz="1400" b="1" i="0">
                <a:solidFill>
                  <a:srgbClr val="FFFFFF"/>
                </a:solidFill>
              </a:rPr>
              <a:t>Résultats &amp; Discussion</a:t>
            </a:r>
          </a:p>
        </p:txBody>
      </p:sp>
      <p:sp>
        <p:nvSpPr>
          <p:cNvPr id="26" name="TextBox 25"/>
          <p:cNvSpPr txBox="1"/>
          <p:nvPr/>
        </p:nvSpPr>
        <p:spPr>
          <a:xfrm>
            <a:off x="7013448" y="1325880"/>
            <a:ext cx="4937760" cy="347472"/>
          </a:xfrm>
          <a:prstGeom prst="rect">
            <a:avLst/>
          </a:prstGeom>
          <a:noFill/>
        </p:spPr>
        <p:txBody>
          <a:bodyPr wrap="square">
            <a:spAutoFit/>
          </a:bodyPr>
          <a:lstStyle/>
          <a:p>
            <a:pPr algn="l"/>
            <a:r>
              <a:rPr sz="1000" b="0" i="1">
                <a:solidFill>
                  <a:srgbClr val="CAE9FF"/>
                </a:solidFill>
              </a:rPr>
              <a:t>Tableau comparatif · ROC · Matrices · Features</a:t>
            </a:r>
          </a:p>
        </p:txBody>
      </p:sp>
      <p:sp>
        <p:nvSpPr>
          <p:cNvPr id="27" name="Rectangle 26"/>
          <p:cNvSpPr/>
          <p:nvPr/>
        </p:nvSpPr>
        <p:spPr>
          <a:xfrm>
            <a:off x="6400800" y="1664208"/>
            <a:ext cx="502920" cy="6035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1719072"/>
            <a:ext cx="502920" cy="566928"/>
          </a:xfrm>
          <a:prstGeom prst="rect">
            <a:avLst/>
          </a:prstGeom>
          <a:noFill/>
        </p:spPr>
        <p:txBody>
          <a:bodyPr wrap="square">
            <a:spAutoFit/>
          </a:bodyPr>
          <a:lstStyle/>
          <a:p>
            <a:pPr algn="ctr"/>
            <a:r>
              <a:rPr sz="1600" b="1" i="0">
                <a:solidFill>
                  <a:srgbClr val="0D1B2A"/>
                </a:solidFill>
              </a:rPr>
              <a:t>06</a:t>
            </a:r>
          </a:p>
        </p:txBody>
      </p:sp>
      <p:sp>
        <p:nvSpPr>
          <p:cNvPr id="29" name="TextBox 28"/>
          <p:cNvSpPr txBox="1"/>
          <p:nvPr/>
        </p:nvSpPr>
        <p:spPr>
          <a:xfrm>
            <a:off x="7013448" y="1664208"/>
            <a:ext cx="4937760" cy="365760"/>
          </a:xfrm>
          <a:prstGeom prst="rect">
            <a:avLst/>
          </a:prstGeom>
          <a:noFill/>
        </p:spPr>
        <p:txBody>
          <a:bodyPr wrap="square">
            <a:spAutoFit/>
          </a:bodyPr>
          <a:lstStyle/>
          <a:p>
            <a:pPr algn="l"/>
            <a:r>
              <a:rPr sz="1400" b="1" i="0">
                <a:solidFill>
                  <a:srgbClr val="FFFFFF"/>
                </a:solidFill>
              </a:rPr>
              <a:t>Explicabilité (XAI)</a:t>
            </a:r>
          </a:p>
        </p:txBody>
      </p:sp>
      <p:sp>
        <p:nvSpPr>
          <p:cNvPr id="30" name="TextBox 29"/>
          <p:cNvSpPr txBox="1"/>
          <p:nvPr/>
        </p:nvSpPr>
        <p:spPr>
          <a:xfrm>
            <a:off x="7013448" y="1984248"/>
            <a:ext cx="4937760" cy="347472"/>
          </a:xfrm>
          <a:prstGeom prst="rect">
            <a:avLst/>
          </a:prstGeom>
          <a:noFill/>
        </p:spPr>
        <p:txBody>
          <a:bodyPr wrap="square">
            <a:spAutoFit/>
          </a:bodyPr>
          <a:lstStyle/>
          <a:p>
            <a:pPr algn="l"/>
            <a:r>
              <a:rPr sz="1000" b="0" i="1">
                <a:solidFill>
                  <a:srgbClr val="CAE9FF"/>
                </a:solidFill>
              </a:rPr>
              <a:t>LIME · Attention · Biais · Éthique</a:t>
            </a:r>
          </a:p>
        </p:txBody>
      </p:sp>
      <p:sp>
        <p:nvSpPr>
          <p:cNvPr id="31" name="Rectangle 30"/>
          <p:cNvSpPr/>
          <p:nvPr/>
        </p:nvSpPr>
        <p:spPr>
          <a:xfrm>
            <a:off x="6400800" y="2322576"/>
            <a:ext cx="502920" cy="60350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2377440"/>
            <a:ext cx="502920" cy="566928"/>
          </a:xfrm>
          <a:prstGeom prst="rect">
            <a:avLst/>
          </a:prstGeom>
          <a:noFill/>
        </p:spPr>
        <p:txBody>
          <a:bodyPr wrap="square">
            <a:spAutoFit/>
          </a:bodyPr>
          <a:lstStyle/>
          <a:p>
            <a:pPr algn="ctr"/>
            <a:r>
              <a:rPr sz="1600" b="1" i="0">
                <a:solidFill>
                  <a:srgbClr val="0D1B2A"/>
                </a:solidFill>
              </a:rPr>
              <a:t>07</a:t>
            </a:r>
          </a:p>
        </p:txBody>
      </p:sp>
      <p:sp>
        <p:nvSpPr>
          <p:cNvPr id="33" name="TextBox 32"/>
          <p:cNvSpPr txBox="1"/>
          <p:nvPr/>
        </p:nvSpPr>
        <p:spPr>
          <a:xfrm>
            <a:off x="7013448" y="2322576"/>
            <a:ext cx="4937760" cy="365760"/>
          </a:xfrm>
          <a:prstGeom prst="rect">
            <a:avLst/>
          </a:prstGeom>
          <a:noFill/>
        </p:spPr>
        <p:txBody>
          <a:bodyPr wrap="square">
            <a:spAutoFit/>
          </a:bodyPr>
          <a:lstStyle/>
          <a:p>
            <a:pPr algn="l"/>
            <a:r>
              <a:rPr sz="1400" b="1" i="0">
                <a:solidFill>
                  <a:srgbClr val="FFFFFF"/>
                </a:solidFill>
              </a:rPr>
              <a:t>Conclusion &amp; Perspectives</a:t>
            </a:r>
          </a:p>
        </p:txBody>
      </p:sp>
      <p:sp>
        <p:nvSpPr>
          <p:cNvPr id="34" name="TextBox 33"/>
          <p:cNvSpPr txBox="1"/>
          <p:nvPr/>
        </p:nvSpPr>
        <p:spPr>
          <a:xfrm>
            <a:off x="7013448" y="2642616"/>
            <a:ext cx="4937760" cy="347472"/>
          </a:xfrm>
          <a:prstGeom prst="rect">
            <a:avLst/>
          </a:prstGeom>
          <a:noFill/>
        </p:spPr>
        <p:txBody>
          <a:bodyPr wrap="square">
            <a:spAutoFit/>
          </a:bodyPr>
          <a:lstStyle/>
          <a:p>
            <a:pPr algn="l"/>
            <a:r>
              <a:rPr sz="1000" b="0" i="1">
                <a:solidFill>
                  <a:srgbClr val="CAE9FF"/>
                </a:solidFill>
              </a:rPr>
              <a:t>Bilan · Limites · Travaux futurs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286000"/>
            <a:ext cx="1280160"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280160" cy="1188720"/>
          </a:xfrm>
          <a:prstGeom prst="rect">
            <a:avLst/>
          </a:prstGeom>
          <a:noFill/>
        </p:spPr>
        <p:txBody>
          <a:bodyPr wrap="square">
            <a:spAutoFit/>
          </a:bodyPr>
          <a:lstStyle/>
          <a:p>
            <a:pPr algn="ctr"/>
            <a:r>
              <a:rPr sz="4400" b="1" i="0">
                <a:solidFill>
                  <a:srgbClr val="0D1B2A"/>
                </a:solidFill>
              </a:rPr>
              <a:t>01</a:t>
            </a:r>
          </a:p>
        </p:txBody>
      </p:sp>
      <p:sp>
        <p:nvSpPr>
          <p:cNvPr id="5" name="TextBox 4"/>
          <p:cNvSpPr txBox="1"/>
          <p:nvPr/>
        </p:nvSpPr>
        <p:spPr>
          <a:xfrm>
            <a:off x="2011680" y="2286000"/>
            <a:ext cx="9601200" cy="1005840"/>
          </a:xfrm>
          <a:prstGeom prst="rect">
            <a:avLst/>
          </a:prstGeom>
          <a:noFill/>
        </p:spPr>
        <p:txBody>
          <a:bodyPr wrap="square">
            <a:spAutoFit/>
          </a:bodyPr>
          <a:lstStyle/>
          <a:p>
            <a:pPr algn="l"/>
            <a:r>
              <a:rPr sz="3600" b="1" i="0">
                <a:solidFill>
                  <a:srgbClr val="FFFFFF"/>
                </a:solidFill>
              </a:rPr>
              <a:t>Introduction</a:t>
            </a:r>
          </a:p>
        </p:txBody>
      </p:sp>
      <p:sp>
        <p:nvSpPr>
          <p:cNvPr id="6" name="TextBox 5"/>
          <p:cNvSpPr txBox="1"/>
          <p:nvPr/>
        </p:nvSpPr>
        <p:spPr>
          <a:xfrm>
            <a:off x="2011680" y="3337560"/>
            <a:ext cx="9601200" cy="640080"/>
          </a:xfrm>
          <a:prstGeom prst="rect">
            <a:avLst/>
          </a:prstGeom>
          <a:noFill/>
        </p:spPr>
        <p:txBody>
          <a:bodyPr wrap="square">
            <a:spAutoFit/>
          </a:bodyPr>
          <a:lstStyle/>
          <a:p>
            <a:pPr algn="l"/>
            <a:r>
              <a:rPr sz="1600" b="0" i="1">
                <a:solidFill>
                  <a:srgbClr val="CAE9FF"/>
                </a:solidFill>
              </a:rPr>
              <a:t>Contexte · Problématique · Contributions de ce travail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Contexte — L'Infodémie COVID-19</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OMS, février 2020 : « une surabondance d'informations, exactes ou non, qui rend difficile de trouver des sources fiables »</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51560"/>
            <a:ext cx="6217920" cy="365760"/>
          </a:xfrm>
          <a:prstGeom prst="rect">
            <a:avLst/>
          </a:prstGeom>
          <a:noFill/>
        </p:spPr>
        <p:txBody>
          <a:bodyPr wrap="square">
            <a:spAutoFit/>
          </a:bodyPr>
          <a:lstStyle/>
          <a:p>
            <a:pPr algn="l"/>
            <a:r>
              <a:rPr sz="1300" b="1" i="0">
                <a:solidFill>
                  <a:srgbClr val="00B4D8"/>
                </a:solidFill>
              </a:rPr>
              <a:t>Pourquoi ce problème est urgent ?</a:t>
            </a:r>
          </a:p>
        </p:txBody>
      </p:sp>
      <p:sp>
        <p:nvSpPr>
          <p:cNvPr id="9" name="TextBox 8"/>
          <p:cNvSpPr txBox="1"/>
          <p:nvPr/>
        </p:nvSpPr>
        <p:spPr>
          <a:xfrm>
            <a:off x="320040" y="1435608"/>
            <a:ext cx="6217920" cy="4919472"/>
          </a:xfrm>
          <a:prstGeom prst="rect">
            <a:avLst/>
          </a:prstGeom>
          <a:noFill/>
        </p:spPr>
        <p:txBody>
          <a:bodyPr wrap="square">
            <a:spAutoFit/>
          </a:bodyPr>
          <a:lstStyle/>
          <a:p>
            <a:pPr>
              <a:spcBef>
                <a:spcPts val="400"/>
              </a:spcBef>
            </a:pPr>
            <a:r>
              <a:rPr b="1" sz="1300">
                <a:solidFill>
                  <a:srgbClr val="00B4D8"/>
                </a:solidFill>
              </a:rPr>
              <a:t>• Pandémie de COVID-19 →</a:t>
            </a:r>
            <a:r>
              <a:rPr sz="1250">
                <a:solidFill>
                  <a:srgbClr val="CAE9FF"/>
                </a:solidFill>
              </a:rPr>
              <a:t>  Crise sanitaire mondiale + crise informationnelle parallèle</a:t>
            </a:r>
          </a:p>
          <a:p>
            <a:pPr>
              <a:spcBef>
                <a:spcPts val="400"/>
              </a:spcBef>
            </a:pPr>
            <a:r>
              <a:rPr b="1" sz="1300">
                <a:solidFill>
                  <a:srgbClr val="00B4D8"/>
                </a:solidFill>
              </a:rPr>
              <a:t>• Réseaux sociaux →</a:t>
            </a:r>
            <a:r>
              <a:rPr sz="1250">
                <a:solidFill>
                  <a:srgbClr val="CAE9FF"/>
                </a:solidFill>
              </a:rPr>
              <a:t>  Vecteurs de diffusion rapide de fausses informations : théories du complot, remèdes miracles, désinformation politique</a:t>
            </a:r>
          </a:p>
          <a:p>
            <a:pPr>
              <a:spcBef>
                <a:spcPts val="400"/>
              </a:spcBef>
            </a:pPr>
            <a:r>
              <a:rPr b="1" sz="1300">
                <a:solidFill>
                  <a:srgbClr val="00B4D8"/>
                </a:solidFill>
              </a:rPr>
              <a:t>• Sharma et al. [2] →</a:t>
            </a:r>
            <a:r>
              <a:rPr sz="1250">
                <a:solidFill>
                  <a:srgbClr val="CAE9FF"/>
                </a:solidFill>
              </a:rPr>
              <a:t>  Des millions de publications médicalement erronées par jour en ligne</a:t>
            </a:r>
          </a:p>
          <a:p>
            <a:pPr>
              <a:spcBef>
                <a:spcPts val="400"/>
              </a:spcBef>
            </a:pPr>
            <a:r>
              <a:rPr b="1" sz="1300">
                <a:solidFill>
                  <a:srgbClr val="00B4D8"/>
                </a:solidFill>
              </a:rPr>
              <a:t>• Fact-checking manuel →</a:t>
            </a:r>
            <a:r>
              <a:rPr sz="1250">
                <a:solidFill>
                  <a:srgbClr val="CAE9FF"/>
                </a:solidFill>
              </a:rPr>
              <a:t>  Insuffisant à l'échelle : des dizaines de milliers de posts par heure, impossible à traiter humainement</a:t>
            </a:r>
          </a:p>
          <a:p>
            <a:pPr>
              <a:spcBef>
                <a:spcPts val="400"/>
              </a:spcBef>
            </a:pPr>
            <a:r>
              <a:rPr b="1" sz="1300">
                <a:solidFill>
                  <a:srgbClr val="00B4D8"/>
                </a:solidFill>
              </a:rPr>
              <a:t>• Solution proposée →</a:t>
            </a:r>
            <a:r>
              <a:rPr sz="1250">
                <a:solidFill>
                  <a:srgbClr val="CAE9FF"/>
                </a:solidFill>
              </a:rPr>
              <a:t>  Automatisation par Apprentissage Automatique et NLP</a:t>
            </a:r>
          </a:p>
        </p:txBody>
      </p:sp>
      <p:sp>
        <p:nvSpPr>
          <p:cNvPr id="10" name="Rectangle 9"/>
          <p:cNvSpPr/>
          <p:nvPr/>
        </p:nvSpPr>
        <p:spPr>
          <a:xfrm>
            <a:off x="6766560" y="1051560"/>
            <a:ext cx="5120640" cy="53035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1188720"/>
            <a:ext cx="4754880" cy="411480"/>
          </a:xfrm>
          <a:prstGeom prst="rect">
            <a:avLst/>
          </a:prstGeom>
          <a:noFill/>
        </p:spPr>
        <p:txBody>
          <a:bodyPr wrap="square">
            <a:spAutoFit/>
          </a:bodyPr>
          <a:lstStyle/>
          <a:p>
            <a:pPr algn="l"/>
            <a:r>
              <a:rPr sz="1400" b="1" i="0">
                <a:solidFill>
                  <a:srgbClr val="00B4D8"/>
                </a:solidFill>
              </a:rPr>
              <a:t>Quelques chiffres clés</a:t>
            </a:r>
          </a:p>
        </p:txBody>
      </p:sp>
      <p:sp>
        <p:nvSpPr>
          <p:cNvPr id="12" name="TextBox 11"/>
          <p:cNvSpPr txBox="1"/>
          <p:nvPr/>
        </p:nvSpPr>
        <p:spPr>
          <a:xfrm>
            <a:off x="6949440" y="1737360"/>
            <a:ext cx="1463040" cy="457200"/>
          </a:xfrm>
          <a:prstGeom prst="rect">
            <a:avLst/>
          </a:prstGeom>
          <a:noFill/>
        </p:spPr>
        <p:txBody>
          <a:bodyPr wrap="square">
            <a:spAutoFit/>
          </a:bodyPr>
          <a:lstStyle/>
          <a:p>
            <a:pPr algn="ctr"/>
            <a:r>
              <a:rPr sz="3000" b="1" i="0">
                <a:solidFill>
                  <a:srgbClr val="06D6A0"/>
                </a:solidFill>
              </a:rPr>
              <a:t>10 700</a:t>
            </a:r>
          </a:p>
        </p:txBody>
      </p:sp>
      <p:sp>
        <p:nvSpPr>
          <p:cNvPr id="13" name="TextBox 12"/>
          <p:cNvSpPr txBox="1"/>
          <p:nvPr/>
        </p:nvSpPr>
        <p:spPr>
          <a:xfrm>
            <a:off x="8503920" y="1783080"/>
            <a:ext cx="3200400" cy="457200"/>
          </a:xfrm>
          <a:prstGeom prst="rect">
            <a:avLst/>
          </a:prstGeom>
          <a:noFill/>
        </p:spPr>
        <p:txBody>
          <a:bodyPr wrap="square">
            <a:spAutoFit/>
          </a:bodyPr>
          <a:lstStyle/>
          <a:p>
            <a:pPr algn="l"/>
            <a:r>
              <a:rPr sz="1200" b="0" i="0">
                <a:solidFill>
                  <a:srgbClr val="CAE9FF"/>
                </a:solidFill>
              </a:rPr>
              <a:t>publications COVID-19 annotées</a:t>
            </a:r>
          </a:p>
        </p:txBody>
      </p:sp>
      <p:sp>
        <p:nvSpPr>
          <p:cNvPr id="14" name="TextBox 13"/>
          <p:cNvSpPr txBox="1"/>
          <p:nvPr/>
        </p:nvSpPr>
        <p:spPr>
          <a:xfrm>
            <a:off x="6949440" y="2606040"/>
            <a:ext cx="1463040" cy="457200"/>
          </a:xfrm>
          <a:prstGeom prst="rect">
            <a:avLst/>
          </a:prstGeom>
          <a:noFill/>
        </p:spPr>
        <p:txBody>
          <a:bodyPr wrap="square">
            <a:spAutoFit/>
          </a:bodyPr>
          <a:lstStyle/>
          <a:p>
            <a:pPr algn="ctr"/>
            <a:r>
              <a:rPr sz="3000" b="1" i="0">
                <a:solidFill>
                  <a:srgbClr val="06D6A0"/>
                </a:solidFill>
              </a:rPr>
              <a:t>~52 %</a:t>
            </a:r>
          </a:p>
        </p:txBody>
      </p:sp>
      <p:sp>
        <p:nvSpPr>
          <p:cNvPr id="15" name="TextBox 14"/>
          <p:cNvSpPr txBox="1"/>
          <p:nvPr/>
        </p:nvSpPr>
        <p:spPr>
          <a:xfrm>
            <a:off x="8503920" y="2651760"/>
            <a:ext cx="3200400" cy="457200"/>
          </a:xfrm>
          <a:prstGeom prst="rect">
            <a:avLst/>
          </a:prstGeom>
          <a:noFill/>
        </p:spPr>
        <p:txBody>
          <a:bodyPr wrap="square">
            <a:spAutoFit/>
          </a:bodyPr>
          <a:lstStyle/>
          <a:p>
            <a:pPr algn="l"/>
            <a:r>
              <a:rPr sz="1200" b="0" i="0">
                <a:solidFill>
                  <a:srgbClr val="CAE9FF"/>
                </a:solidFill>
              </a:rPr>
              <a:t>de fausses informations détectées</a:t>
            </a:r>
          </a:p>
        </p:txBody>
      </p:sp>
      <p:sp>
        <p:nvSpPr>
          <p:cNvPr id="16" name="TextBox 15"/>
          <p:cNvSpPr txBox="1"/>
          <p:nvPr/>
        </p:nvSpPr>
        <p:spPr>
          <a:xfrm>
            <a:off x="6949440" y="3474720"/>
            <a:ext cx="1463040" cy="457200"/>
          </a:xfrm>
          <a:prstGeom prst="rect">
            <a:avLst/>
          </a:prstGeom>
          <a:noFill/>
        </p:spPr>
        <p:txBody>
          <a:bodyPr wrap="square">
            <a:spAutoFit/>
          </a:bodyPr>
          <a:lstStyle/>
          <a:p>
            <a:pPr algn="ctr"/>
            <a:r>
              <a:rPr sz="3000" b="1" i="0">
                <a:solidFill>
                  <a:srgbClr val="06D6A0"/>
                </a:solidFill>
              </a:rPr>
              <a:t>3 mois</a:t>
            </a:r>
          </a:p>
        </p:txBody>
      </p:sp>
      <p:sp>
        <p:nvSpPr>
          <p:cNvPr id="17" name="TextBox 16"/>
          <p:cNvSpPr txBox="1"/>
          <p:nvPr/>
        </p:nvSpPr>
        <p:spPr>
          <a:xfrm>
            <a:off x="8503920" y="3520440"/>
            <a:ext cx="3200400" cy="457200"/>
          </a:xfrm>
          <a:prstGeom prst="rect">
            <a:avLst/>
          </a:prstGeom>
          <a:noFill/>
        </p:spPr>
        <p:txBody>
          <a:bodyPr wrap="square">
            <a:spAutoFit/>
          </a:bodyPr>
          <a:lstStyle/>
          <a:p>
            <a:pPr algn="l"/>
            <a:r>
              <a:rPr sz="1200" b="0" i="0">
                <a:solidFill>
                  <a:srgbClr val="CAE9FF"/>
                </a:solidFill>
              </a:rPr>
              <a:t>de collecte (jan–juil 2020)</a:t>
            </a:r>
          </a:p>
        </p:txBody>
      </p:sp>
      <p:sp>
        <p:nvSpPr>
          <p:cNvPr id="18" name="TextBox 17"/>
          <p:cNvSpPr txBox="1"/>
          <p:nvPr/>
        </p:nvSpPr>
        <p:spPr>
          <a:xfrm>
            <a:off x="6949440" y="4343400"/>
            <a:ext cx="1463040" cy="457200"/>
          </a:xfrm>
          <a:prstGeom prst="rect">
            <a:avLst/>
          </a:prstGeom>
          <a:noFill/>
        </p:spPr>
        <p:txBody>
          <a:bodyPr wrap="square">
            <a:spAutoFit/>
          </a:bodyPr>
          <a:lstStyle/>
          <a:p>
            <a:pPr algn="ctr"/>
            <a:r>
              <a:rPr sz="3000" b="1" i="0">
                <a:solidFill>
                  <a:srgbClr val="06D6A0"/>
                </a:solidFill>
              </a:rPr>
              <a:t>&gt; 140</a:t>
            </a:r>
          </a:p>
        </p:txBody>
      </p:sp>
      <p:sp>
        <p:nvSpPr>
          <p:cNvPr id="19" name="TextBox 18"/>
          <p:cNvSpPr txBox="1"/>
          <p:nvPr/>
        </p:nvSpPr>
        <p:spPr>
          <a:xfrm>
            <a:off x="8503920" y="4389120"/>
            <a:ext cx="3200400" cy="457200"/>
          </a:xfrm>
          <a:prstGeom prst="rect">
            <a:avLst/>
          </a:prstGeom>
          <a:noFill/>
        </p:spPr>
        <p:txBody>
          <a:bodyPr wrap="square">
            <a:spAutoFit/>
          </a:bodyPr>
          <a:lstStyle/>
          <a:p>
            <a:pPr algn="l"/>
            <a:r>
              <a:rPr sz="1200" b="0" i="0">
                <a:solidFill>
                  <a:srgbClr val="CAE9FF"/>
                </a:solidFill>
              </a:rPr>
              <a:t>pays touchés par la désinformation</a:t>
            </a:r>
          </a:p>
        </p:txBody>
      </p:sp>
      <p:sp>
        <p:nvSpPr>
          <p:cNvPr id="20" name="TextBox 19"/>
          <p:cNvSpPr txBox="1"/>
          <p:nvPr/>
        </p:nvSpPr>
        <p:spPr>
          <a:xfrm>
            <a:off x="6949440" y="5212080"/>
            <a:ext cx="1463040" cy="457200"/>
          </a:xfrm>
          <a:prstGeom prst="rect">
            <a:avLst/>
          </a:prstGeom>
          <a:noFill/>
        </p:spPr>
        <p:txBody>
          <a:bodyPr wrap="square">
            <a:spAutoFit/>
          </a:bodyPr>
          <a:lstStyle/>
          <a:p>
            <a:pPr algn="ctr"/>
            <a:r>
              <a:rPr sz="3000" b="1" i="0">
                <a:solidFill>
                  <a:srgbClr val="06D6A0"/>
                </a:solidFill>
              </a:rPr>
              <a:t>1 sur 4</a:t>
            </a:r>
          </a:p>
        </p:txBody>
      </p:sp>
      <p:sp>
        <p:nvSpPr>
          <p:cNvPr id="21" name="TextBox 20"/>
          <p:cNvSpPr txBox="1"/>
          <p:nvPr/>
        </p:nvSpPr>
        <p:spPr>
          <a:xfrm>
            <a:off x="8503920" y="5257800"/>
            <a:ext cx="3200400" cy="457200"/>
          </a:xfrm>
          <a:prstGeom prst="rect">
            <a:avLst/>
          </a:prstGeom>
          <a:noFill/>
        </p:spPr>
        <p:txBody>
          <a:bodyPr wrap="square">
            <a:spAutoFit/>
          </a:bodyPr>
          <a:lstStyle/>
          <a:p>
            <a:pPr algn="l"/>
            <a:r>
              <a:rPr sz="1200" b="0" i="0">
                <a:solidFill>
                  <a:srgbClr val="CAE9FF"/>
                </a:solidFill>
              </a:rPr>
              <a:t>tweets COVID contenait du contenu trompeur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Problématique &amp; Contributions</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Deux questions de recherche complémentaires</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005840"/>
            <a:ext cx="5669280" cy="1645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97280"/>
            <a:ext cx="914400" cy="457200"/>
          </a:xfrm>
          <a:prstGeom prst="rect">
            <a:avLst/>
          </a:prstGeom>
          <a:noFill/>
        </p:spPr>
        <p:txBody>
          <a:bodyPr wrap="square">
            <a:spAutoFit/>
          </a:bodyPr>
          <a:lstStyle/>
          <a:p>
            <a:pPr algn="l"/>
            <a:r>
              <a:rPr sz="2200" b="1" i="0">
                <a:solidFill>
                  <a:srgbClr val="00B4D8"/>
                </a:solidFill>
              </a:rPr>
              <a:t>RQ1</a:t>
            </a:r>
          </a:p>
        </p:txBody>
      </p:sp>
      <p:sp>
        <p:nvSpPr>
          <p:cNvPr id="10" name="TextBox 9"/>
          <p:cNvSpPr txBox="1"/>
          <p:nvPr/>
        </p:nvSpPr>
        <p:spPr>
          <a:xfrm>
            <a:off x="1417320" y="1097280"/>
            <a:ext cx="4389120" cy="411480"/>
          </a:xfrm>
          <a:prstGeom prst="rect">
            <a:avLst/>
          </a:prstGeom>
          <a:noFill/>
        </p:spPr>
        <p:txBody>
          <a:bodyPr wrap="square">
            <a:spAutoFit/>
          </a:bodyPr>
          <a:lstStyle/>
          <a:p>
            <a:pPr algn="l"/>
            <a:r>
              <a:rPr sz="1400" b="1" i="0">
                <a:solidFill>
                  <a:srgbClr val="FFFFFF"/>
                </a:solidFill>
              </a:rPr>
              <a:t>Question de Performance</a:t>
            </a:r>
          </a:p>
        </p:txBody>
      </p:sp>
      <p:sp>
        <p:nvSpPr>
          <p:cNvPr id="11" name="TextBox 10"/>
          <p:cNvSpPr txBox="1"/>
          <p:nvPr/>
        </p:nvSpPr>
        <p:spPr>
          <a:xfrm>
            <a:off x="457200" y="1554480"/>
            <a:ext cx="5394960" cy="1005840"/>
          </a:xfrm>
          <a:prstGeom prst="rect">
            <a:avLst/>
          </a:prstGeom>
          <a:noFill/>
        </p:spPr>
        <p:txBody>
          <a:bodyPr wrap="square">
            <a:spAutoFit/>
          </a:bodyPr>
          <a:lstStyle/>
          <a:p>
            <a:pPr algn="l"/>
            <a:r>
              <a:rPr sz="1200" b="0" i="0">
                <a:solidFill>
                  <a:srgbClr val="CAE9FF"/>
                </a:solidFill>
              </a:rPr>
              <a:t>Quelle architecture de modèle ML donne les meilleures performances
pour classer textes COVID-19 comme fake ou real ?</a:t>
            </a:r>
          </a:p>
        </p:txBody>
      </p:sp>
      <p:sp>
        <p:nvSpPr>
          <p:cNvPr id="12" name="Rectangle 11"/>
          <p:cNvSpPr/>
          <p:nvPr/>
        </p:nvSpPr>
        <p:spPr>
          <a:xfrm>
            <a:off x="6263640" y="1005840"/>
            <a:ext cx="5669280" cy="1645920"/>
          </a:xfrm>
          <a:prstGeom prst="rect">
            <a:avLst/>
          </a:prstGeom>
          <a:solidFill>
            <a:srgbClr val="15283A"/>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097280"/>
            <a:ext cx="914400" cy="457200"/>
          </a:xfrm>
          <a:prstGeom prst="rect">
            <a:avLst/>
          </a:prstGeom>
          <a:noFill/>
        </p:spPr>
        <p:txBody>
          <a:bodyPr wrap="square">
            <a:spAutoFit/>
          </a:bodyPr>
          <a:lstStyle/>
          <a:p>
            <a:pPr algn="l"/>
            <a:r>
              <a:rPr sz="2200" b="1" i="0">
                <a:solidFill>
                  <a:srgbClr val="FFD166"/>
                </a:solidFill>
              </a:rPr>
              <a:t>RQ2</a:t>
            </a:r>
          </a:p>
        </p:txBody>
      </p:sp>
      <p:sp>
        <p:nvSpPr>
          <p:cNvPr id="14" name="TextBox 13"/>
          <p:cNvSpPr txBox="1"/>
          <p:nvPr/>
        </p:nvSpPr>
        <p:spPr>
          <a:xfrm>
            <a:off x="7360920" y="1097280"/>
            <a:ext cx="4389120" cy="411480"/>
          </a:xfrm>
          <a:prstGeom prst="rect">
            <a:avLst/>
          </a:prstGeom>
          <a:noFill/>
        </p:spPr>
        <p:txBody>
          <a:bodyPr wrap="square">
            <a:spAutoFit/>
          </a:bodyPr>
          <a:lstStyle/>
          <a:p>
            <a:pPr algn="l"/>
            <a:r>
              <a:rPr sz="1400" b="1" i="0">
                <a:solidFill>
                  <a:srgbClr val="FFFFFF"/>
                </a:solidFill>
              </a:rPr>
              <a:t>Question de Sécurité IA</a:t>
            </a:r>
          </a:p>
        </p:txBody>
      </p:sp>
      <p:sp>
        <p:nvSpPr>
          <p:cNvPr id="15" name="TextBox 14"/>
          <p:cNvSpPr txBox="1"/>
          <p:nvPr/>
        </p:nvSpPr>
        <p:spPr>
          <a:xfrm>
            <a:off x="6400800" y="1554480"/>
            <a:ext cx="5394960" cy="1005840"/>
          </a:xfrm>
          <a:prstGeom prst="rect">
            <a:avLst/>
          </a:prstGeom>
          <a:noFill/>
        </p:spPr>
        <p:txBody>
          <a:bodyPr wrap="square">
            <a:spAutoFit/>
          </a:bodyPr>
          <a:lstStyle/>
          <a:p>
            <a:pPr algn="l"/>
            <a:r>
              <a:rPr sz="1200" b="0" i="0">
                <a:solidFill>
                  <a:srgbClr val="CAE9FF"/>
                </a:solidFill>
              </a:rPr>
              <a:t>Comment rendre les décisions du modèle transparentes, auditables
et exemptes de biais pour un usage en santé publique ?</a:t>
            </a:r>
          </a:p>
        </p:txBody>
      </p:sp>
      <p:sp>
        <p:nvSpPr>
          <p:cNvPr id="16" name="TextBox 15"/>
          <p:cNvSpPr txBox="1"/>
          <p:nvPr/>
        </p:nvSpPr>
        <p:spPr>
          <a:xfrm>
            <a:off x="320040" y="2926080"/>
            <a:ext cx="11521440" cy="411480"/>
          </a:xfrm>
          <a:prstGeom prst="rect">
            <a:avLst/>
          </a:prstGeom>
          <a:noFill/>
        </p:spPr>
        <p:txBody>
          <a:bodyPr wrap="square">
            <a:spAutoFit/>
          </a:bodyPr>
          <a:lstStyle/>
          <a:p>
            <a:pPr algn="l"/>
            <a:r>
              <a:rPr sz="1500" b="1" i="0">
                <a:solidFill>
                  <a:srgbClr val="00B4D8"/>
                </a:solidFill>
              </a:rPr>
              <a:t>5 Contributions de ce travail</a:t>
            </a:r>
          </a:p>
        </p:txBody>
      </p:sp>
      <p:sp>
        <p:nvSpPr>
          <p:cNvPr id="17" name="Rectangle 16"/>
          <p:cNvSpPr/>
          <p:nvPr/>
        </p:nvSpPr>
        <p:spPr>
          <a:xfrm>
            <a:off x="320040" y="3429000"/>
            <a:ext cx="11521440" cy="502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 y="3429000"/>
            <a:ext cx="41148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3465576"/>
            <a:ext cx="411480" cy="457200"/>
          </a:xfrm>
          <a:prstGeom prst="rect">
            <a:avLst/>
          </a:prstGeom>
          <a:noFill/>
        </p:spPr>
        <p:txBody>
          <a:bodyPr wrap="square">
            <a:spAutoFit/>
          </a:bodyPr>
          <a:lstStyle/>
          <a:p>
            <a:pPr algn="ctr"/>
            <a:r>
              <a:rPr sz="1300" b="1" i="0">
                <a:solidFill>
                  <a:srgbClr val="0D1B2A"/>
                </a:solidFill>
              </a:rPr>
              <a:t>1</a:t>
            </a:r>
          </a:p>
        </p:txBody>
      </p:sp>
      <p:sp>
        <p:nvSpPr>
          <p:cNvPr id="20" name="TextBox 19"/>
          <p:cNvSpPr txBox="1"/>
          <p:nvPr/>
        </p:nvSpPr>
        <p:spPr>
          <a:xfrm>
            <a:off x="822960" y="3474720"/>
            <a:ext cx="10972800" cy="457200"/>
          </a:xfrm>
          <a:prstGeom prst="rect">
            <a:avLst/>
          </a:prstGeom>
          <a:noFill/>
        </p:spPr>
        <p:txBody>
          <a:bodyPr wrap="square">
            <a:spAutoFit/>
          </a:bodyPr>
          <a:lstStyle/>
          <a:p>
            <a:pPr algn="l"/>
            <a:r>
              <a:rPr sz="1200" b="0" i="0">
                <a:solidFill>
                  <a:srgbClr val="CAE9FF"/>
                </a:solidFill>
              </a:rPr>
              <a:t>Évaluation comparative rigoureuse de 5 modèles ML sur un corpus COVID-19 spécifique</a:t>
            </a:r>
          </a:p>
        </p:txBody>
      </p:sp>
      <p:sp>
        <p:nvSpPr>
          <p:cNvPr id="21" name="Rectangle 20"/>
          <p:cNvSpPr/>
          <p:nvPr/>
        </p:nvSpPr>
        <p:spPr>
          <a:xfrm>
            <a:off x="320040" y="3977640"/>
            <a:ext cx="11521440" cy="502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 y="3977640"/>
            <a:ext cx="41148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 y="4014216"/>
            <a:ext cx="411480" cy="457200"/>
          </a:xfrm>
          <a:prstGeom prst="rect">
            <a:avLst/>
          </a:prstGeom>
          <a:noFill/>
        </p:spPr>
        <p:txBody>
          <a:bodyPr wrap="square">
            <a:spAutoFit/>
          </a:bodyPr>
          <a:lstStyle/>
          <a:p>
            <a:pPr algn="ctr"/>
            <a:r>
              <a:rPr sz="1300" b="1" i="0">
                <a:solidFill>
                  <a:srgbClr val="0D1B2A"/>
                </a:solidFill>
              </a:rPr>
              <a:t>2</a:t>
            </a:r>
          </a:p>
        </p:txBody>
      </p:sp>
      <p:sp>
        <p:nvSpPr>
          <p:cNvPr id="24" name="TextBox 23"/>
          <p:cNvSpPr txBox="1"/>
          <p:nvPr/>
        </p:nvSpPr>
        <p:spPr>
          <a:xfrm>
            <a:off x="822960" y="4023360"/>
            <a:ext cx="10972800" cy="457200"/>
          </a:xfrm>
          <a:prstGeom prst="rect">
            <a:avLst/>
          </a:prstGeom>
          <a:noFill/>
        </p:spPr>
        <p:txBody>
          <a:bodyPr wrap="square">
            <a:spAutoFit/>
          </a:bodyPr>
          <a:lstStyle/>
          <a:p>
            <a:pPr algn="l"/>
            <a:r>
              <a:rPr sz="1200" b="0" i="0">
                <a:solidFill>
                  <a:srgbClr val="CAE9FF"/>
                </a:solidFill>
              </a:rPr>
              <a:t>Fine-tuning de DistilBERT avec analyse des courbes d'apprentissage</a:t>
            </a:r>
          </a:p>
        </p:txBody>
      </p:sp>
      <p:sp>
        <p:nvSpPr>
          <p:cNvPr id="25" name="Rectangle 24"/>
          <p:cNvSpPr/>
          <p:nvPr/>
        </p:nvSpPr>
        <p:spPr>
          <a:xfrm>
            <a:off x="320040" y="4526280"/>
            <a:ext cx="11521440" cy="502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0040" y="4526280"/>
            <a:ext cx="41148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4562856"/>
            <a:ext cx="411480" cy="457200"/>
          </a:xfrm>
          <a:prstGeom prst="rect">
            <a:avLst/>
          </a:prstGeom>
          <a:noFill/>
        </p:spPr>
        <p:txBody>
          <a:bodyPr wrap="square">
            <a:spAutoFit/>
          </a:bodyPr>
          <a:lstStyle/>
          <a:p>
            <a:pPr algn="ctr"/>
            <a:r>
              <a:rPr sz="1300" b="1" i="0">
                <a:solidFill>
                  <a:srgbClr val="0D1B2A"/>
                </a:solidFill>
              </a:rPr>
              <a:t>3</a:t>
            </a:r>
          </a:p>
        </p:txBody>
      </p:sp>
      <p:sp>
        <p:nvSpPr>
          <p:cNvPr id="28" name="TextBox 27"/>
          <p:cNvSpPr txBox="1"/>
          <p:nvPr/>
        </p:nvSpPr>
        <p:spPr>
          <a:xfrm>
            <a:off x="822960" y="4572000"/>
            <a:ext cx="10972800" cy="457200"/>
          </a:xfrm>
          <a:prstGeom prst="rect">
            <a:avLst/>
          </a:prstGeom>
          <a:noFill/>
        </p:spPr>
        <p:txBody>
          <a:bodyPr wrap="square">
            <a:spAutoFit/>
          </a:bodyPr>
          <a:lstStyle/>
          <a:p>
            <a:pPr algn="l"/>
            <a:r>
              <a:rPr sz="1200" b="0" i="0">
                <a:solidFill>
                  <a:srgbClr val="CAE9FF"/>
                </a:solidFill>
              </a:rPr>
              <a:t>Analyse d'explicabilité : LIME + visualisation des poids d'attention pour chaque prédiction</a:t>
            </a:r>
          </a:p>
        </p:txBody>
      </p:sp>
      <p:sp>
        <p:nvSpPr>
          <p:cNvPr id="29" name="Rectangle 28"/>
          <p:cNvSpPr/>
          <p:nvPr/>
        </p:nvSpPr>
        <p:spPr>
          <a:xfrm>
            <a:off x="320040" y="5074920"/>
            <a:ext cx="11521440" cy="502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0040" y="5074920"/>
            <a:ext cx="41148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5111496"/>
            <a:ext cx="411480" cy="457200"/>
          </a:xfrm>
          <a:prstGeom prst="rect">
            <a:avLst/>
          </a:prstGeom>
          <a:noFill/>
        </p:spPr>
        <p:txBody>
          <a:bodyPr wrap="square">
            <a:spAutoFit/>
          </a:bodyPr>
          <a:lstStyle/>
          <a:p>
            <a:pPr algn="ctr"/>
            <a:r>
              <a:rPr sz="1300" b="1" i="0">
                <a:solidFill>
                  <a:srgbClr val="0D1B2A"/>
                </a:solidFill>
              </a:rPr>
              <a:t>4</a:t>
            </a:r>
          </a:p>
        </p:txBody>
      </p:sp>
      <p:sp>
        <p:nvSpPr>
          <p:cNvPr id="32" name="TextBox 31"/>
          <p:cNvSpPr txBox="1"/>
          <p:nvPr/>
        </p:nvSpPr>
        <p:spPr>
          <a:xfrm>
            <a:off x="822960" y="5120640"/>
            <a:ext cx="10972800" cy="457200"/>
          </a:xfrm>
          <a:prstGeom prst="rect">
            <a:avLst/>
          </a:prstGeom>
          <a:noFill/>
        </p:spPr>
        <p:txBody>
          <a:bodyPr wrap="square">
            <a:spAutoFit/>
          </a:bodyPr>
          <a:lstStyle/>
          <a:p>
            <a:pPr algn="l"/>
            <a:r>
              <a:rPr sz="1200" b="0" i="0">
                <a:solidFill>
                  <a:srgbClr val="CAE9FF"/>
                </a:solidFill>
              </a:rPr>
              <a:t>Analyse systématique des erreurs → identification de la longueur du texte comme facteur d'échec principal</a:t>
            </a:r>
          </a:p>
        </p:txBody>
      </p:sp>
      <p:sp>
        <p:nvSpPr>
          <p:cNvPr id="33" name="Rectangle 32"/>
          <p:cNvSpPr/>
          <p:nvPr/>
        </p:nvSpPr>
        <p:spPr>
          <a:xfrm>
            <a:off x="320040" y="5623560"/>
            <a:ext cx="11521440" cy="502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0040" y="5623560"/>
            <a:ext cx="41148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5660136"/>
            <a:ext cx="411480" cy="457200"/>
          </a:xfrm>
          <a:prstGeom prst="rect">
            <a:avLst/>
          </a:prstGeom>
          <a:noFill/>
        </p:spPr>
        <p:txBody>
          <a:bodyPr wrap="square">
            <a:spAutoFit/>
          </a:bodyPr>
          <a:lstStyle/>
          <a:p>
            <a:pPr algn="ctr"/>
            <a:r>
              <a:rPr sz="1300" b="1" i="0">
                <a:solidFill>
                  <a:srgbClr val="0D1B2A"/>
                </a:solidFill>
              </a:rPr>
              <a:t>5</a:t>
            </a:r>
          </a:p>
        </p:txBody>
      </p:sp>
      <p:sp>
        <p:nvSpPr>
          <p:cNvPr id="36" name="TextBox 35"/>
          <p:cNvSpPr txBox="1"/>
          <p:nvPr/>
        </p:nvSpPr>
        <p:spPr>
          <a:xfrm>
            <a:off x="822960" y="5669280"/>
            <a:ext cx="10972800" cy="457200"/>
          </a:xfrm>
          <a:prstGeom prst="rect">
            <a:avLst/>
          </a:prstGeom>
          <a:noFill/>
        </p:spPr>
        <p:txBody>
          <a:bodyPr wrap="square">
            <a:spAutoFit/>
          </a:bodyPr>
          <a:lstStyle/>
          <a:p>
            <a:pPr algn="l"/>
            <a:r>
              <a:rPr sz="1200" b="0" i="0">
                <a:solidFill>
                  <a:srgbClr val="CAE9FF"/>
                </a:solidFill>
              </a:rPr>
              <a:t>Pipeline complet packagé en application web interactive (Streamlit + API Flask)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286000"/>
            <a:ext cx="1280160"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280160" cy="1188720"/>
          </a:xfrm>
          <a:prstGeom prst="rect">
            <a:avLst/>
          </a:prstGeom>
          <a:noFill/>
        </p:spPr>
        <p:txBody>
          <a:bodyPr wrap="square">
            <a:spAutoFit/>
          </a:bodyPr>
          <a:lstStyle/>
          <a:p>
            <a:pPr algn="ctr"/>
            <a:r>
              <a:rPr sz="4400" b="1" i="0">
                <a:solidFill>
                  <a:srgbClr val="0D1B2A"/>
                </a:solidFill>
              </a:rPr>
              <a:t>02</a:t>
            </a:r>
          </a:p>
        </p:txBody>
      </p:sp>
      <p:sp>
        <p:nvSpPr>
          <p:cNvPr id="5" name="TextBox 4"/>
          <p:cNvSpPr txBox="1"/>
          <p:nvPr/>
        </p:nvSpPr>
        <p:spPr>
          <a:xfrm>
            <a:off x="2011680" y="2286000"/>
            <a:ext cx="9601200" cy="1005840"/>
          </a:xfrm>
          <a:prstGeom prst="rect">
            <a:avLst/>
          </a:prstGeom>
          <a:noFill/>
        </p:spPr>
        <p:txBody>
          <a:bodyPr wrap="square">
            <a:spAutoFit/>
          </a:bodyPr>
          <a:lstStyle/>
          <a:p>
            <a:pPr algn="l"/>
            <a:r>
              <a:rPr sz="3600" b="1" i="0">
                <a:solidFill>
                  <a:srgbClr val="FFFFFF"/>
                </a:solidFill>
              </a:rPr>
              <a:t>État de l'Art</a:t>
            </a:r>
          </a:p>
        </p:txBody>
      </p:sp>
      <p:sp>
        <p:nvSpPr>
          <p:cNvPr id="6" name="TextBox 5"/>
          <p:cNvSpPr txBox="1"/>
          <p:nvPr/>
        </p:nvSpPr>
        <p:spPr>
          <a:xfrm>
            <a:off x="2011680" y="3337560"/>
            <a:ext cx="9601200" cy="640080"/>
          </a:xfrm>
          <a:prstGeom prst="rect">
            <a:avLst/>
          </a:prstGeom>
          <a:noFill/>
        </p:spPr>
        <p:txBody>
          <a:bodyPr wrap="square">
            <a:spAutoFit/>
          </a:bodyPr>
          <a:lstStyle/>
          <a:p>
            <a:pPr algn="l"/>
            <a:r>
              <a:rPr sz="1600" b="0" i="1">
                <a:solidFill>
                  <a:srgbClr val="CAE9FF"/>
                </a:solidFill>
              </a:rPr>
              <a:t>Évolution de la détection de fake news — 2017 à 2021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État de l'Art — Évolution 2017–2021</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De la détection lexicale aux Transformers contextuels</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200400"/>
            <a:ext cx="1124712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3063240"/>
            <a:ext cx="274320" cy="2743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463040"/>
            <a:ext cx="36576" cy="1600200"/>
          </a:xfrm>
          <a:prstGeom prst="rect">
            <a:avLst/>
          </a:prstGeom>
          <a:solidFill>
            <a:srgbClr val="2A5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914400"/>
            <a:ext cx="1645920" cy="502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914400"/>
            <a:ext cx="1645920" cy="502920"/>
          </a:xfrm>
          <a:prstGeom prst="rect">
            <a:avLst/>
          </a:prstGeom>
          <a:noFill/>
        </p:spPr>
        <p:txBody>
          <a:bodyPr wrap="square">
            <a:spAutoFit/>
          </a:bodyPr>
          <a:lstStyle/>
          <a:p>
            <a:pPr algn="ctr"/>
            <a:r>
              <a:rPr sz="1400" b="1" i="0">
                <a:solidFill>
                  <a:srgbClr val="00B4D8"/>
                </a:solidFill>
              </a:rPr>
              <a:t>2017</a:t>
            </a:r>
          </a:p>
        </p:txBody>
      </p:sp>
      <p:sp>
        <p:nvSpPr>
          <p:cNvPr id="13" name="TextBox 12"/>
          <p:cNvSpPr txBox="1"/>
          <p:nvPr/>
        </p:nvSpPr>
        <p:spPr>
          <a:xfrm>
            <a:off x="457200" y="1426464"/>
            <a:ext cx="1737360" cy="411480"/>
          </a:xfrm>
          <a:prstGeom prst="rect">
            <a:avLst/>
          </a:prstGeom>
          <a:noFill/>
        </p:spPr>
        <p:txBody>
          <a:bodyPr wrap="square">
            <a:spAutoFit/>
          </a:bodyPr>
          <a:lstStyle/>
          <a:p>
            <a:pPr algn="l"/>
            <a:r>
              <a:rPr sz="1100" b="1" i="0">
                <a:solidFill>
                  <a:srgbClr val="FFFFFF"/>
                </a:solidFill>
              </a:rPr>
              <a:t>FakeNews
Challenge</a:t>
            </a:r>
          </a:p>
        </p:txBody>
      </p:sp>
      <p:sp>
        <p:nvSpPr>
          <p:cNvPr id="14" name="TextBox 13"/>
          <p:cNvSpPr txBox="1"/>
          <p:nvPr/>
        </p:nvSpPr>
        <p:spPr>
          <a:xfrm>
            <a:off x="457200" y="1828800"/>
            <a:ext cx="1737360" cy="731520"/>
          </a:xfrm>
          <a:prstGeom prst="rect">
            <a:avLst/>
          </a:prstGeom>
          <a:noFill/>
        </p:spPr>
        <p:txBody>
          <a:bodyPr wrap="square">
            <a:spAutoFit/>
          </a:bodyPr>
          <a:lstStyle/>
          <a:p>
            <a:pPr algn="l"/>
            <a:r>
              <a:rPr sz="950" b="0" i="0">
                <a:solidFill>
                  <a:srgbClr val="CAE9FF"/>
                </a:solidFill>
              </a:rPr>
              <a:t>TF-IDF +
SVM / NB
[Pomerleau]</a:t>
            </a:r>
          </a:p>
        </p:txBody>
      </p:sp>
      <p:sp>
        <p:nvSpPr>
          <p:cNvPr id="15" name="Oval 14"/>
          <p:cNvSpPr/>
          <p:nvPr/>
        </p:nvSpPr>
        <p:spPr>
          <a:xfrm>
            <a:off x="2651760" y="3063240"/>
            <a:ext cx="274320" cy="2743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61488" y="3383280"/>
            <a:ext cx="36576" cy="365759"/>
          </a:xfrm>
          <a:prstGeom prst="rect">
            <a:avLst/>
          </a:prstGeom>
          <a:solidFill>
            <a:srgbClr val="2A5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0" y="3749039"/>
            <a:ext cx="1645920" cy="502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0" y="3749039"/>
            <a:ext cx="1645920" cy="502920"/>
          </a:xfrm>
          <a:prstGeom prst="rect">
            <a:avLst/>
          </a:prstGeom>
          <a:noFill/>
        </p:spPr>
        <p:txBody>
          <a:bodyPr wrap="square">
            <a:spAutoFit/>
          </a:bodyPr>
          <a:lstStyle/>
          <a:p>
            <a:pPr algn="ctr"/>
            <a:r>
              <a:rPr sz="1400" b="1" i="0">
                <a:solidFill>
                  <a:srgbClr val="00B4D8"/>
                </a:solidFill>
              </a:rPr>
              <a:t>2017</a:t>
            </a:r>
          </a:p>
        </p:txBody>
      </p:sp>
      <p:sp>
        <p:nvSpPr>
          <p:cNvPr id="19" name="TextBox 18"/>
          <p:cNvSpPr txBox="1"/>
          <p:nvPr/>
        </p:nvSpPr>
        <p:spPr>
          <a:xfrm>
            <a:off x="2560320" y="4261103"/>
            <a:ext cx="1737360" cy="411480"/>
          </a:xfrm>
          <a:prstGeom prst="rect">
            <a:avLst/>
          </a:prstGeom>
          <a:noFill/>
        </p:spPr>
        <p:txBody>
          <a:bodyPr wrap="square">
            <a:spAutoFit/>
          </a:bodyPr>
          <a:lstStyle/>
          <a:p>
            <a:pPr algn="l"/>
            <a:r>
              <a:rPr sz="1100" b="1" i="0">
                <a:solidFill>
                  <a:srgbClr val="FFFFFF"/>
                </a:solidFill>
              </a:rPr>
              <a:t>Marqueurs
linguistiques</a:t>
            </a:r>
          </a:p>
        </p:txBody>
      </p:sp>
      <p:sp>
        <p:nvSpPr>
          <p:cNvPr id="20" name="TextBox 19"/>
          <p:cNvSpPr txBox="1"/>
          <p:nvPr/>
        </p:nvSpPr>
        <p:spPr>
          <a:xfrm>
            <a:off x="2560320" y="4663439"/>
            <a:ext cx="1737360" cy="731520"/>
          </a:xfrm>
          <a:prstGeom prst="rect">
            <a:avLst/>
          </a:prstGeom>
          <a:noFill/>
        </p:spPr>
        <p:txBody>
          <a:bodyPr wrap="square">
            <a:spAutoFit/>
          </a:bodyPr>
          <a:lstStyle/>
          <a:p>
            <a:pPr algn="l"/>
            <a:r>
              <a:rPr sz="950" b="0" i="0">
                <a:solidFill>
                  <a:srgbClr val="CAE9FF"/>
                </a:solidFill>
              </a:rPr>
              <a:t>Hedging,
stylométrie
[Volkova]</a:t>
            </a:r>
          </a:p>
        </p:txBody>
      </p:sp>
      <p:sp>
        <p:nvSpPr>
          <p:cNvPr id="21" name="Oval 20"/>
          <p:cNvSpPr/>
          <p:nvPr/>
        </p:nvSpPr>
        <p:spPr>
          <a:xfrm>
            <a:off x="4754880" y="3063240"/>
            <a:ext cx="274320" cy="2743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64608" y="1463040"/>
            <a:ext cx="36576" cy="1600200"/>
          </a:xfrm>
          <a:prstGeom prst="rect">
            <a:avLst/>
          </a:prstGeom>
          <a:solidFill>
            <a:srgbClr val="2A5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63440" y="914400"/>
            <a:ext cx="1645920" cy="502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914400"/>
            <a:ext cx="1645920" cy="502920"/>
          </a:xfrm>
          <a:prstGeom prst="rect">
            <a:avLst/>
          </a:prstGeom>
          <a:noFill/>
        </p:spPr>
        <p:txBody>
          <a:bodyPr wrap="square">
            <a:spAutoFit/>
          </a:bodyPr>
          <a:lstStyle/>
          <a:p>
            <a:pPr algn="ctr"/>
            <a:r>
              <a:rPr sz="1400" b="1" i="0">
                <a:solidFill>
                  <a:srgbClr val="00B4D8"/>
                </a:solidFill>
              </a:rPr>
              <a:t>2018</a:t>
            </a:r>
          </a:p>
        </p:txBody>
      </p:sp>
      <p:sp>
        <p:nvSpPr>
          <p:cNvPr id="25" name="TextBox 24"/>
          <p:cNvSpPr txBox="1"/>
          <p:nvPr/>
        </p:nvSpPr>
        <p:spPr>
          <a:xfrm>
            <a:off x="4663440" y="1426464"/>
            <a:ext cx="1737360" cy="411480"/>
          </a:xfrm>
          <a:prstGeom prst="rect">
            <a:avLst/>
          </a:prstGeom>
          <a:noFill/>
        </p:spPr>
        <p:txBody>
          <a:bodyPr wrap="square">
            <a:spAutoFit/>
          </a:bodyPr>
          <a:lstStyle/>
          <a:p>
            <a:pPr algn="l"/>
            <a:r>
              <a:rPr sz="1100" b="1" i="0">
                <a:solidFill>
                  <a:srgbClr val="FFFFFF"/>
                </a:solidFill>
              </a:rPr>
              <a:t>BERT</a:t>
            </a:r>
          </a:p>
        </p:txBody>
      </p:sp>
      <p:sp>
        <p:nvSpPr>
          <p:cNvPr id="26" name="TextBox 25"/>
          <p:cNvSpPr txBox="1"/>
          <p:nvPr/>
        </p:nvSpPr>
        <p:spPr>
          <a:xfrm>
            <a:off x="4663440" y="1828800"/>
            <a:ext cx="1737360" cy="731520"/>
          </a:xfrm>
          <a:prstGeom prst="rect">
            <a:avLst/>
          </a:prstGeom>
          <a:noFill/>
        </p:spPr>
        <p:txBody>
          <a:bodyPr wrap="square">
            <a:spAutoFit/>
          </a:bodyPr>
          <a:lstStyle/>
          <a:p>
            <a:pPr algn="l"/>
            <a:r>
              <a:rPr sz="950" b="0" i="0">
                <a:solidFill>
                  <a:srgbClr val="CAE9FF"/>
                </a:solidFill>
              </a:rPr>
              <a:t>Pre-training
bidirectionnel
[Devlin]</a:t>
            </a:r>
          </a:p>
        </p:txBody>
      </p:sp>
      <p:sp>
        <p:nvSpPr>
          <p:cNvPr id="27" name="Oval 26"/>
          <p:cNvSpPr/>
          <p:nvPr/>
        </p:nvSpPr>
        <p:spPr>
          <a:xfrm>
            <a:off x="6858000" y="3063240"/>
            <a:ext cx="274320" cy="2743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967728" y="3383280"/>
            <a:ext cx="36576" cy="365759"/>
          </a:xfrm>
          <a:prstGeom prst="rect">
            <a:avLst/>
          </a:prstGeom>
          <a:solidFill>
            <a:srgbClr val="2A5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766560" y="3749039"/>
            <a:ext cx="1645920" cy="502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0" y="3749039"/>
            <a:ext cx="1645920" cy="502920"/>
          </a:xfrm>
          <a:prstGeom prst="rect">
            <a:avLst/>
          </a:prstGeom>
          <a:noFill/>
        </p:spPr>
        <p:txBody>
          <a:bodyPr wrap="square">
            <a:spAutoFit/>
          </a:bodyPr>
          <a:lstStyle/>
          <a:p>
            <a:pPr algn="ctr"/>
            <a:r>
              <a:rPr sz="1400" b="1" i="0">
                <a:solidFill>
                  <a:srgbClr val="00B4D8"/>
                </a:solidFill>
              </a:rPr>
              <a:t>2019</a:t>
            </a:r>
          </a:p>
        </p:txBody>
      </p:sp>
      <p:sp>
        <p:nvSpPr>
          <p:cNvPr id="31" name="TextBox 30"/>
          <p:cNvSpPr txBox="1"/>
          <p:nvPr/>
        </p:nvSpPr>
        <p:spPr>
          <a:xfrm>
            <a:off x="6766560" y="4261103"/>
            <a:ext cx="1737360" cy="411480"/>
          </a:xfrm>
          <a:prstGeom prst="rect">
            <a:avLst/>
          </a:prstGeom>
          <a:noFill/>
        </p:spPr>
        <p:txBody>
          <a:bodyPr wrap="square">
            <a:spAutoFit/>
          </a:bodyPr>
          <a:lstStyle/>
          <a:p>
            <a:pPr algn="l"/>
            <a:r>
              <a:rPr sz="1100" b="1" i="0">
                <a:solidFill>
                  <a:srgbClr val="FFFFFF"/>
                </a:solidFill>
              </a:rPr>
              <a:t>DistilBERT</a:t>
            </a:r>
          </a:p>
        </p:txBody>
      </p:sp>
      <p:sp>
        <p:nvSpPr>
          <p:cNvPr id="32" name="TextBox 31"/>
          <p:cNvSpPr txBox="1"/>
          <p:nvPr/>
        </p:nvSpPr>
        <p:spPr>
          <a:xfrm>
            <a:off x="6766560" y="4663439"/>
            <a:ext cx="1737360" cy="731520"/>
          </a:xfrm>
          <a:prstGeom prst="rect">
            <a:avLst/>
          </a:prstGeom>
          <a:noFill/>
        </p:spPr>
        <p:txBody>
          <a:bodyPr wrap="square">
            <a:spAutoFit/>
          </a:bodyPr>
          <a:lstStyle/>
          <a:p>
            <a:pPr algn="l"/>
            <a:r>
              <a:rPr sz="950" b="0" i="0">
                <a:solidFill>
                  <a:srgbClr val="CAE9FF"/>
                </a:solidFill>
              </a:rPr>
              <a:t>Distillation
40% + léger
[Sanh]</a:t>
            </a:r>
          </a:p>
        </p:txBody>
      </p:sp>
      <p:sp>
        <p:nvSpPr>
          <p:cNvPr id="33" name="Oval 32"/>
          <p:cNvSpPr/>
          <p:nvPr/>
        </p:nvSpPr>
        <p:spPr>
          <a:xfrm>
            <a:off x="8961120" y="3063240"/>
            <a:ext cx="274320" cy="2743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70848" y="1463040"/>
            <a:ext cx="36576" cy="1600200"/>
          </a:xfrm>
          <a:prstGeom prst="rect">
            <a:avLst/>
          </a:prstGeom>
          <a:solidFill>
            <a:srgbClr val="2A5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69680" y="914400"/>
            <a:ext cx="1645920" cy="502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0" y="914400"/>
            <a:ext cx="1645920" cy="502920"/>
          </a:xfrm>
          <a:prstGeom prst="rect">
            <a:avLst/>
          </a:prstGeom>
          <a:noFill/>
        </p:spPr>
        <p:txBody>
          <a:bodyPr wrap="square">
            <a:spAutoFit/>
          </a:bodyPr>
          <a:lstStyle/>
          <a:p>
            <a:pPr algn="ctr"/>
            <a:r>
              <a:rPr sz="1400" b="1" i="0">
                <a:solidFill>
                  <a:srgbClr val="00B4D8"/>
                </a:solidFill>
              </a:rPr>
              <a:t>2021</a:t>
            </a:r>
          </a:p>
        </p:txBody>
      </p:sp>
      <p:sp>
        <p:nvSpPr>
          <p:cNvPr id="37" name="TextBox 36"/>
          <p:cNvSpPr txBox="1"/>
          <p:nvPr/>
        </p:nvSpPr>
        <p:spPr>
          <a:xfrm>
            <a:off x="8869680" y="1426464"/>
            <a:ext cx="1737360" cy="411480"/>
          </a:xfrm>
          <a:prstGeom prst="rect">
            <a:avLst/>
          </a:prstGeom>
          <a:noFill/>
        </p:spPr>
        <p:txBody>
          <a:bodyPr wrap="square">
            <a:spAutoFit/>
          </a:bodyPr>
          <a:lstStyle/>
          <a:p>
            <a:pPr algn="l"/>
            <a:r>
              <a:rPr sz="1100" b="1" i="0">
                <a:solidFill>
                  <a:srgbClr val="FFFFFF"/>
                </a:solidFill>
              </a:rPr>
              <a:t>Constraint
Workshop</a:t>
            </a:r>
          </a:p>
        </p:txBody>
      </p:sp>
      <p:sp>
        <p:nvSpPr>
          <p:cNvPr id="38" name="TextBox 37"/>
          <p:cNvSpPr txBox="1"/>
          <p:nvPr/>
        </p:nvSpPr>
        <p:spPr>
          <a:xfrm>
            <a:off x="8869680" y="1828800"/>
            <a:ext cx="1737360" cy="731520"/>
          </a:xfrm>
          <a:prstGeom prst="rect">
            <a:avLst/>
          </a:prstGeom>
          <a:noFill/>
        </p:spPr>
        <p:txBody>
          <a:bodyPr wrap="square">
            <a:spAutoFit/>
          </a:bodyPr>
          <a:lstStyle/>
          <a:p>
            <a:pPr algn="l"/>
            <a:r>
              <a:rPr sz="950" b="0" i="0">
                <a:solidFill>
                  <a:srgbClr val="CAE9FF"/>
                </a:solidFill>
              </a:rPr>
              <a:t>COVID-19
Dataset
[Patwa]</a:t>
            </a:r>
          </a:p>
        </p:txBody>
      </p:sp>
      <p:sp>
        <p:nvSpPr>
          <p:cNvPr id="39" name="Oval 38"/>
          <p:cNvSpPr/>
          <p:nvPr/>
        </p:nvSpPr>
        <p:spPr>
          <a:xfrm>
            <a:off x="10881360" y="3063240"/>
            <a:ext cx="274320" cy="2743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991088" y="3383280"/>
            <a:ext cx="36576" cy="365759"/>
          </a:xfrm>
          <a:prstGeom prst="rect">
            <a:avLst/>
          </a:prstGeom>
          <a:solidFill>
            <a:srgbClr val="2A5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789920" y="3749039"/>
            <a:ext cx="1645920" cy="5029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89920" y="3749039"/>
            <a:ext cx="1645920" cy="502920"/>
          </a:xfrm>
          <a:prstGeom prst="rect">
            <a:avLst/>
          </a:prstGeom>
          <a:noFill/>
        </p:spPr>
        <p:txBody>
          <a:bodyPr wrap="square">
            <a:spAutoFit/>
          </a:bodyPr>
          <a:lstStyle/>
          <a:p>
            <a:pPr algn="ctr"/>
            <a:r>
              <a:rPr sz="1400" b="1" i="0">
                <a:solidFill>
                  <a:srgbClr val="00B4D8"/>
                </a:solidFill>
              </a:rPr>
              <a:t>2021</a:t>
            </a:r>
          </a:p>
        </p:txBody>
      </p:sp>
      <p:sp>
        <p:nvSpPr>
          <p:cNvPr id="43" name="TextBox 42"/>
          <p:cNvSpPr txBox="1"/>
          <p:nvPr/>
        </p:nvSpPr>
        <p:spPr>
          <a:xfrm>
            <a:off x="10789920" y="4261103"/>
            <a:ext cx="1737360" cy="411480"/>
          </a:xfrm>
          <a:prstGeom prst="rect">
            <a:avLst/>
          </a:prstGeom>
          <a:noFill/>
        </p:spPr>
        <p:txBody>
          <a:bodyPr wrap="square">
            <a:spAutoFit/>
          </a:bodyPr>
          <a:lstStyle/>
          <a:p>
            <a:pPr algn="l"/>
            <a:r>
              <a:rPr sz="1100" b="1" i="0">
                <a:solidFill>
                  <a:srgbClr val="FFFFFF"/>
                </a:solidFill>
              </a:rPr>
              <a:t>LIME/Attention
sur BERT</a:t>
            </a:r>
          </a:p>
        </p:txBody>
      </p:sp>
      <p:sp>
        <p:nvSpPr>
          <p:cNvPr id="44" name="TextBox 43"/>
          <p:cNvSpPr txBox="1"/>
          <p:nvPr/>
        </p:nvSpPr>
        <p:spPr>
          <a:xfrm>
            <a:off x="10789920" y="4663439"/>
            <a:ext cx="1737360" cy="731520"/>
          </a:xfrm>
          <a:prstGeom prst="rect">
            <a:avLst/>
          </a:prstGeom>
          <a:noFill/>
        </p:spPr>
        <p:txBody>
          <a:bodyPr wrap="square">
            <a:spAutoFit/>
          </a:bodyPr>
          <a:lstStyle/>
          <a:p>
            <a:pPr algn="l"/>
            <a:r>
              <a:rPr sz="950" b="0" i="0">
                <a:solidFill>
                  <a:srgbClr val="CAE9FF"/>
                </a:solidFill>
              </a:rPr>
              <a:t>XAI pour
fake news
[Popat]</a:t>
            </a:r>
          </a:p>
        </p:txBody>
      </p:sp>
      <p:sp>
        <p:nvSpPr>
          <p:cNvPr id="45" name="Rectangle 44"/>
          <p:cNvSpPr/>
          <p:nvPr/>
        </p:nvSpPr>
        <p:spPr>
          <a:xfrm>
            <a:off x="4572000" y="5486400"/>
            <a:ext cx="3017520" cy="1051560"/>
          </a:xfrm>
          <a:prstGeom prst="rect">
            <a:avLst/>
          </a:prstGeom>
          <a:solidFill>
            <a:srgbClr val="15283A"/>
          </a:solidFill>
          <a:ln>
            <a:solidFill>
              <a:srgbClr val="06D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0" y="5486400"/>
            <a:ext cx="3017520" cy="365760"/>
          </a:xfrm>
          <a:prstGeom prst="rect">
            <a:avLst/>
          </a:prstGeom>
          <a:noFill/>
        </p:spPr>
        <p:txBody>
          <a:bodyPr wrap="square">
            <a:spAutoFit/>
          </a:bodyPr>
          <a:lstStyle/>
          <a:p>
            <a:pPr algn="ctr"/>
            <a:r>
              <a:rPr sz="1200" b="1" i="0">
                <a:solidFill>
                  <a:srgbClr val="06D6A0"/>
                </a:solidFill>
              </a:rPr>
              <a:t>→ Ce travail (2026)</a:t>
            </a:r>
          </a:p>
        </p:txBody>
      </p:sp>
      <p:sp>
        <p:nvSpPr>
          <p:cNvPr id="47" name="TextBox 46"/>
          <p:cNvSpPr txBox="1"/>
          <p:nvPr/>
        </p:nvSpPr>
        <p:spPr>
          <a:xfrm>
            <a:off x="4572000" y="5870448"/>
            <a:ext cx="3017520" cy="594360"/>
          </a:xfrm>
          <a:prstGeom prst="rect">
            <a:avLst/>
          </a:prstGeom>
          <a:noFill/>
        </p:spPr>
        <p:txBody>
          <a:bodyPr wrap="square">
            <a:spAutoFit/>
          </a:bodyPr>
          <a:lstStyle/>
          <a:p>
            <a:pPr algn="ctr"/>
            <a:r>
              <a:rPr sz="1000" b="0" i="0">
                <a:solidFill>
                  <a:srgbClr val="CAE9FF"/>
                </a:solidFill>
              </a:rPr>
              <a:t>SVM + TF-IDF vs DistilBERT
+ LIME + Attention — COVID-19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286000"/>
            <a:ext cx="1280160"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280160" cy="1188720"/>
          </a:xfrm>
          <a:prstGeom prst="rect">
            <a:avLst/>
          </a:prstGeom>
          <a:noFill/>
        </p:spPr>
        <p:txBody>
          <a:bodyPr wrap="square">
            <a:spAutoFit/>
          </a:bodyPr>
          <a:lstStyle/>
          <a:p>
            <a:pPr algn="ctr"/>
            <a:r>
              <a:rPr sz="4400" b="1" i="0">
                <a:solidFill>
                  <a:srgbClr val="0D1B2A"/>
                </a:solidFill>
              </a:rPr>
              <a:t>03</a:t>
            </a:r>
          </a:p>
        </p:txBody>
      </p:sp>
      <p:sp>
        <p:nvSpPr>
          <p:cNvPr id="5" name="TextBox 4"/>
          <p:cNvSpPr txBox="1"/>
          <p:nvPr/>
        </p:nvSpPr>
        <p:spPr>
          <a:xfrm>
            <a:off x="2011680" y="2286000"/>
            <a:ext cx="9601200" cy="1005840"/>
          </a:xfrm>
          <a:prstGeom prst="rect">
            <a:avLst/>
          </a:prstGeom>
          <a:noFill/>
        </p:spPr>
        <p:txBody>
          <a:bodyPr wrap="square">
            <a:spAutoFit/>
          </a:bodyPr>
          <a:lstStyle/>
          <a:p>
            <a:pPr algn="l"/>
            <a:r>
              <a:rPr sz="3600" b="1" i="0">
                <a:solidFill>
                  <a:srgbClr val="FFFFFF"/>
                </a:solidFill>
              </a:rPr>
              <a:t>Dataset &amp; Prétraitement</a:t>
            </a:r>
          </a:p>
        </p:txBody>
      </p:sp>
      <p:sp>
        <p:nvSpPr>
          <p:cNvPr id="6" name="TextBox 5"/>
          <p:cNvSpPr txBox="1"/>
          <p:nvPr/>
        </p:nvSpPr>
        <p:spPr>
          <a:xfrm>
            <a:off x="2011680" y="3337560"/>
            <a:ext cx="9601200" cy="640080"/>
          </a:xfrm>
          <a:prstGeom prst="rect">
            <a:avLst/>
          </a:prstGeom>
          <a:noFill/>
        </p:spPr>
        <p:txBody>
          <a:bodyPr wrap="square">
            <a:spAutoFit/>
          </a:bodyPr>
          <a:lstStyle/>
          <a:p>
            <a:pPr algn="l"/>
            <a:r>
              <a:rPr sz="1600" b="0" i="1">
                <a:solidFill>
                  <a:srgbClr val="CAE9FF"/>
                </a:solidFill>
              </a:rPr>
              <a:t>Constraint COVID-19 · Nettoyage de texte · TF-IDF · Features linguistiques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Dataset — Constraint COVID-19 Fake News</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Patwa et al., AAAI Constraint Workshop 2021</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05840"/>
            <a:ext cx="5486400" cy="365760"/>
          </a:xfrm>
          <a:prstGeom prst="rect">
            <a:avLst/>
          </a:prstGeom>
          <a:noFill/>
        </p:spPr>
        <p:txBody>
          <a:bodyPr wrap="square">
            <a:spAutoFit/>
          </a:bodyPr>
          <a:lstStyle/>
          <a:p>
            <a:pPr algn="l"/>
            <a:r>
              <a:rPr sz="1300" b="1" i="0">
                <a:solidFill>
                  <a:srgbClr val="00B4D8"/>
                </a:solidFill>
              </a:rPr>
              <a:t>Caractéristiques du dataset</a:t>
            </a:r>
          </a:p>
        </p:txBody>
      </p:sp>
      <p:sp>
        <p:nvSpPr>
          <p:cNvPr id="9" name="TextBox 8"/>
          <p:cNvSpPr txBox="1"/>
          <p:nvPr/>
        </p:nvSpPr>
        <p:spPr>
          <a:xfrm>
            <a:off x="320040" y="1389888"/>
            <a:ext cx="5486400" cy="4919472"/>
          </a:xfrm>
          <a:prstGeom prst="rect">
            <a:avLst/>
          </a:prstGeom>
          <a:noFill/>
        </p:spPr>
        <p:txBody>
          <a:bodyPr wrap="square">
            <a:spAutoFit/>
          </a:bodyPr>
          <a:lstStyle/>
          <a:p>
            <a:pPr>
              <a:spcBef>
                <a:spcPts val="400"/>
              </a:spcBef>
            </a:pPr>
            <a:r>
              <a:rPr b="1" sz="1250">
                <a:solidFill>
                  <a:srgbClr val="00B4D8"/>
                </a:solidFill>
              </a:rPr>
              <a:t>• Source :</a:t>
            </a:r>
            <a:r>
              <a:rPr sz="1200">
                <a:solidFill>
                  <a:srgbClr val="CAE9FF"/>
                </a:solidFill>
              </a:rPr>
              <a:t>  Publications Twitter collectées entre janvier et juillet 2020</a:t>
            </a:r>
          </a:p>
          <a:p>
            <a:pPr>
              <a:spcBef>
                <a:spcPts val="400"/>
              </a:spcBef>
            </a:pPr>
            <a:r>
              <a:rPr b="1" sz="1250">
                <a:solidFill>
                  <a:srgbClr val="00B4D8"/>
                </a:solidFill>
              </a:rPr>
              <a:t>• Taille :</a:t>
            </a:r>
            <a:r>
              <a:rPr sz="1200">
                <a:solidFill>
                  <a:srgbClr val="CAE9FF"/>
                </a:solidFill>
              </a:rPr>
              <a:t>  10 700 échantillons au total — quasi-équilibré</a:t>
            </a:r>
          </a:p>
          <a:p>
            <a:pPr>
              <a:spcBef>
                <a:spcPts val="400"/>
              </a:spcBef>
            </a:pPr>
            <a:r>
              <a:rPr b="1" sz="1250">
                <a:solidFill>
                  <a:srgbClr val="00B4D8"/>
                </a:solidFill>
              </a:rPr>
              <a:t>• Splits :</a:t>
            </a:r>
            <a:r>
              <a:rPr sz="1200">
                <a:solidFill>
                  <a:srgbClr val="CAE9FF"/>
                </a:solidFill>
              </a:rPr>
              <a:t>  Train : 6 420  |  Validation : 2 140  |  Test : 2 140</a:t>
            </a:r>
          </a:p>
          <a:p>
            <a:pPr>
              <a:spcBef>
                <a:spcPts val="400"/>
              </a:spcBef>
            </a:pPr>
            <a:r>
              <a:rPr b="1" sz="1250">
                <a:solidFill>
                  <a:srgbClr val="00B4D8"/>
                </a:solidFill>
              </a:rPr>
              <a:t>• Labels :</a:t>
            </a:r>
            <a:r>
              <a:rPr sz="1200">
                <a:solidFill>
                  <a:srgbClr val="CAE9FF"/>
                </a:solidFill>
              </a:rPr>
              <a:t>  Binaires — real (info vérifiée) / fake (désinformation confirmée)</a:t>
            </a:r>
          </a:p>
          <a:p>
            <a:pPr>
              <a:spcBef>
                <a:spcPts val="400"/>
              </a:spcBef>
            </a:pPr>
            <a:r>
              <a:rPr b="1" sz="1250">
                <a:solidFill>
                  <a:srgbClr val="00B4D8"/>
                </a:solidFill>
              </a:rPr>
              <a:t>• Annotation :</a:t>
            </a:r>
            <a:r>
              <a:rPr sz="1200">
                <a:solidFill>
                  <a:srgbClr val="CAE9FF"/>
                </a:solidFill>
              </a:rPr>
              <a:t>  Annotateurs formés, sources : OMS, CDC, PubMed, Snopes, PolitiFact</a:t>
            </a:r>
          </a:p>
          <a:p>
            <a:pPr>
              <a:spcBef>
                <a:spcPts val="400"/>
              </a:spcBef>
            </a:pPr>
            <a:r>
              <a:rPr b="1" sz="1250">
                <a:solidFill>
                  <a:srgbClr val="00B4D8"/>
                </a:solidFill>
              </a:rPr>
              <a:t>• Textes :</a:t>
            </a:r>
            <a:r>
              <a:rPr sz="1200">
                <a:solidFill>
                  <a:srgbClr val="CAE9FF"/>
                </a:solidFill>
              </a:rPr>
              <a:t>  Tweets courts — majorité &lt; 50 mots (limite Twitter)</a:t>
            </a:r>
          </a:p>
        </p:txBody>
      </p:sp>
      <p:pic>
        <p:nvPicPr>
          <p:cNvPr id="10" name="Picture 9" descr="01_class_distribution.png"/>
          <p:cNvPicPr>
            <a:picLocks noChangeAspect="1"/>
          </p:cNvPicPr>
          <p:nvPr/>
        </p:nvPicPr>
        <p:blipFill>
          <a:blip r:embed="rId2"/>
          <a:stretch>
            <a:fillRect/>
          </a:stretch>
        </p:blipFill>
        <p:spPr>
          <a:xfrm>
            <a:off x="6035040" y="1005840"/>
            <a:ext cx="5943600" cy="2560320"/>
          </a:xfrm>
          <a:prstGeom prst="rect">
            <a:avLst/>
          </a:prstGeom>
        </p:spPr>
      </p:pic>
      <p:pic>
        <p:nvPicPr>
          <p:cNvPr id="11" name="Picture 10" descr="02_text_length_distribution.png"/>
          <p:cNvPicPr>
            <a:picLocks noChangeAspect="1"/>
          </p:cNvPicPr>
          <p:nvPr/>
        </p:nvPicPr>
        <p:blipFill>
          <a:blip r:embed="rId3"/>
          <a:stretch>
            <a:fillRect/>
          </a:stretch>
        </p:blipFill>
        <p:spPr>
          <a:xfrm>
            <a:off x="6035040" y="3749039"/>
            <a:ext cx="5943600" cy="2743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Analyse Exploratoire — Vocabulaire par Classe</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Les mots révèlent des patterns stylistiques distincts</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3_wordclouds.png"/>
          <p:cNvPicPr>
            <a:picLocks noChangeAspect="1"/>
          </p:cNvPicPr>
          <p:nvPr/>
        </p:nvPicPr>
        <p:blipFill>
          <a:blip r:embed="rId2"/>
          <a:stretch>
            <a:fillRect/>
          </a:stretch>
        </p:blipFill>
        <p:spPr>
          <a:xfrm>
            <a:off x="320040" y="1005840"/>
            <a:ext cx="6858000" cy="3200400"/>
          </a:xfrm>
          <a:prstGeom prst="rect">
            <a:avLst/>
          </a:prstGeom>
        </p:spPr>
      </p:pic>
      <p:pic>
        <p:nvPicPr>
          <p:cNvPr id="9" name="Picture 8" descr="04_top_words.png"/>
          <p:cNvPicPr>
            <a:picLocks noChangeAspect="1"/>
          </p:cNvPicPr>
          <p:nvPr/>
        </p:nvPicPr>
        <p:blipFill>
          <a:blip r:embed="rId3"/>
          <a:stretch>
            <a:fillRect/>
          </a:stretch>
        </p:blipFill>
        <p:spPr>
          <a:xfrm>
            <a:off x="7315200" y="1005840"/>
            <a:ext cx="4663440" cy="3200400"/>
          </a:xfrm>
          <a:prstGeom prst="rect">
            <a:avLst/>
          </a:prstGeom>
        </p:spPr>
      </p:pic>
      <p:sp>
        <p:nvSpPr>
          <p:cNvPr id="10" name="TextBox 9"/>
          <p:cNvSpPr txBox="1"/>
          <p:nvPr/>
        </p:nvSpPr>
        <p:spPr>
          <a:xfrm>
            <a:off x="320040" y="4343400"/>
            <a:ext cx="11521440" cy="365760"/>
          </a:xfrm>
          <a:prstGeom prst="rect">
            <a:avLst/>
          </a:prstGeom>
          <a:noFill/>
        </p:spPr>
        <p:txBody>
          <a:bodyPr wrap="square">
            <a:spAutoFit/>
          </a:bodyPr>
          <a:lstStyle/>
          <a:p>
            <a:pPr algn="l"/>
            <a:r>
              <a:rPr sz="1400" b="1" i="0">
                <a:solidFill>
                  <a:srgbClr val="00B4D8"/>
                </a:solidFill>
              </a:rPr>
              <a:t>Observations clés</a:t>
            </a:r>
          </a:p>
        </p:txBody>
      </p:sp>
      <p:sp>
        <p:nvSpPr>
          <p:cNvPr id="11" name="TextBox 10"/>
          <p:cNvSpPr txBox="1"/>
          <p:nvPr/>
        </p:nvSpPr>
        <p:spPr>
          <a:xfrm>
            <a:off x="320040" y="4754880"/>
            <a:ext cx="11521440" cy="402336"/>
          </a:xfrm>
          <a:prstGeom prst="rect">
            <a:avLst/>
          </a:prstGeom>
          <a:noFill/>
        </p:spPr>
        <p:txBody>
          <a:bodyPr wrap="square">
            <a:spAutoFit/>
          </a:bodyPr>
          <a:lstStyle/>
          <a:p>
            <a:pPr algn="l"/>
            <a:r>
              <a:rPr sz="1150" b="0" i="0">
                <a:solidFill>
                  <a:srgbClr val="CAE9FF"/>
                </a:solidFill>
              </a:rPr>
              <a:t>• News RÉELLES : vocabulaire institutionnel — « data », « state », « case », « test », « reported »</a:t>
            </a:r>
          </a:p>
        </p:txBody>
      </p:sp>
      <p:sp>
        <p:nvSpPr>
          <p:cNvPr id="12" name="TextBox 11"/>
          <p:cNvSpPr txBox="1"/>
          <p:nvPr/>
        </p:nvSpPr>
        <p:spPr>
          <a:xfrm>
            <a:off x="320040" y="5193792"/>
            <a:ext cx="11521440" cy="402336"/>
          </a:xfrm>
          <a:prstGeom prst="rect">
            <a:avLst/>
          </a:prstGeom>
          <a:noFill/>
        </p:spPr>
        <p:txBody>
          <a:bodyPr wrap="square">
            <a:spAutoFit/>
          </a:bodyPr>
          <a:lstStyle/>
          <a:p>
            <a:pPr algn="l"/>
            <a:r>
              <a:rPr sz="1150" b="0" i="0">
                <a:solidFill>
                  <a:srgbClr val="CAE9FF"/>
                </a:solidFill>
              </a:rPr>
              <a:t>• FAKE news : vocabulaire alarmiste et politisé — « claim », « cure », « trump », « china », « video »</a:t>
            </a:r>
          </a:p>
        </p:txBody>
      </p:sp>
      <p:sp>
        <p:nvSpPr>
          <p:cNvPr id="13" name="TextBox 12"/>
          <p:cNvSpPr txBox="1"/>
          <p:nvPr/>
        </p:nvSpPr>
        <p:spPr>
          <a:xfrm>
            <a:off x="320040" y="5632704"/>
            <a:ext cx="11521440" cy="402336"/>
          </a:xfrm>
          <a:prstGeom prst="rect">
            <a:avLst/>
          </a:prstGeom>
          <a:noFill/>
        </p:spPr>
        <p:txBody>
          <a:bodyPr wrap="square">
            <a:spAutoFit/>
          </a:bodyPr>
          <a:lstStyle/>
          <a:p>
            <a:pPr algn="l"/>
            <a:r>
              <a:rPr sz="1150" b="0" i="0">
                <a:solidFill>
                  <a:srgbClr val="CAE9FF"/>
                </a:solidFill>
              </a:rPr>
              <a:t>• Les fake news utilisent davantage l'impératif et les titres sensationnalistes</a:t>
            </a:r>
          </a:p>
        </p:txBody>
      </p:sp>
      <p:sp>
        <p:nvSpPr>
          <p:cNvPr id="14" name="TextBox 13"/>
          <p:cNvSpPr txBox="1"/>
          <p:nvPr/>
        </p:nvSpPr>
        <p:spPr>
          <a:xfrm>
            <a:off x="320040" y="6071616"/>
            <a:ext cx="11521440" cy="402336"/>
          </a:xfrm>
          <a:prstGeom prst="rect">
            <a:avLst/>
          </a:prstGeom>
          <a:noFill/>
        </p:spPr>
        <p:txBody>
          <a:bodyPr wrap="square">
            <a:spAutoFit/>
          </a:bodyPr>
          <a:lstStyle/>
          <a:p>
            <a:pPr algn="l"/>
            <a:r>
              <a:rPr sz="1150" b="0" i="0">
                <a:solidFill>
                  <a:srgbClr val="CAE9FF"/>
                </a:solidFill>
              </a:rPr>
              <a:t>• La présence de termes géographiques spécifiques (Chine, USA) est plus marquée dans les fake news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Prétraitement &amp; Extraction de Features</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Pipeline de nettoyage → TF-IDF → Features linguistiques</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51560"/>
            <a:ext cx="1828800" cy="219456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097280"/>
            <a:ext cx="365760" cy="365760"/>
          </a:xfrm>
          <a:prstGeom prst="rect">
            <a:avLst/>
          </a:prstGeom>
          <a:noFill/>
        </p:spPr>
        <p:txBody>
          <a:bodyPr wrap="square">
            <a:spAutoFit/>
          </a:bodyPr>
          <a:lstStyle/>
          <a:p>
            <a:pPr algn="l"/>
            <a:r>
              <a:rPr sz="1800" b="1" i="0">
                <a:solidFill>
                  <a:srgbClr val="00B4D8"/>
                </a:solidFill>
              </a:rPr>
              <a:t>1</a:t>
            </a:r>
          </a:p>
        </p:txBody>
      </p:sp>
      <p:sp>
        <p:nvSpPr>
          <p:cNvPr id="10" name="TextBox 9"/>
          <p:cNvSpPr txBox="1"/>
          <p:nvPr/>
        </p:nvSpPr>
        <p:spPr>
          <a:xfrm>
            <a:off x="320040" y="1481328"/>
            <a:ext cx="1737360" cy="384048"/>
          </a:xfrm>
          <a:prstGeom prst="rect">
            <a:avLst/>
          </a:prstGeom>
          <a:noFill/>
        </p:spPr>
        <p:txBody>
          <a:bodyPr wrap="square">
            <a:spAutoFit/>
          </a:bodyPr>
          <a:lstStyle/>
          <a:p>
            <a:pPr algn="l"/>
            <a:r>
              <a:rPr sz="1200" b="1" i="0">
                <a:solidFill>
                  <a:srgbClr val="FFFFFF"/>
                </a:solidFill>
              </a:rPr>
              <a:t>Texte brut</a:t>
            </a:r>
          </a:p>
        </p:txBody>
      </p:sp>
      <p:sp>
        <p:nvSpPr>
          <p:cNvPr id="11" name="TextBox 10"/>
          <p:cNvSpPr txBox="1"/>
          <p:nvPr/>
        </p:nvSpPr>
        <p:spPr>
          <a:xfrm>
            <a:off x="320040" y="1901952"/>
            <a:ext cx="1737360" cy="1280160"/>
          </a:xfrm>
          <a:prstGeom prst="rect">
            <a:avLst/>
          </a:prstGeom>
          <a:noFill/>
        </p:spPr>
        <p:txBody>
          <a:bodyPr wrap="square">
            <a:spAutoFit/>
          </a:bodyPr>
          <a:lstStyle/>
          <a:p>
            <a:pPr algn="l"/>
            <a:r>
              <a:rPr sz="950" b="0" i="0">
                <a:solidFill>
                  <a:srgbClr val="CAE9FF"/>
                </a:solidFill>
              </a:rPr>
              <a:t>Tweet original</a:t>
            </a:r>
          </a:p>
        </p:txBody>
      </p:sp>
      <p:sp>
        <p:nvSpPr>
          <p:cNvPr id="12" name="TextBox 11"/>
          <p:cNvSpPr txBox="1"/>
          <p:nvPr/>
        </p:nvSpPr>
        <p:spPr>
          <a:xfrm>
            <a:off x="2121408" y="1828800"/>
            <a:ext cx="137160" cy="457200"/>
          </a:xfrm>
          <a:prstGeom prst="rect">
            <a:avLst/>
          </a:prstGeom>
          <a:noFill/>
        </p:spPr>
        <p:txBody>
          <a:bodyPr wrap="square">
            <a:spAutoFit/>
          </a:bodyPr>
          <a:lstStyle/>
          <a:p>
            <a:pPr algn="l"/>
            <a:r>
              <a:rPr sz="1800" b="1" i="0">
                <a:solidFill>
                  <a:srgbClr val="00B4D8"/>
                </a:solidFill>
              </a:rPr>
              <a:t>→</a:t>
            </a:r>
          </a:p>
        </p:txBody>
      </p:sp>
      <p:sp>
        <p:nvSpPr>
          <p:cNvPr id="13" name="Rectangle 12"/>
          <p:cNvSpPr/>
          <p:nvPr/>
        </p:nvSpPr>
        <p:spPr>
          <a:xfrm>
            <a:off x="2240280" y="1051560"/>
            <a:ext cx="1828800" cy="2194560"/>
          </a:xfrm>
          <a:prstGeom prst="rect">
            <a:avLst/>
          </a:prstGeom>
          <a:solidFill>
            <a:srgbClr val="15283A"/>
          </a:solidFill>
          <a:ln>
            <a:solidFill>
              <a:srgbClr val="006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0" y="1097280"/>
            <a:ext cx="365760" cy="365760"/>
          </a:xfrm>
          <a:prstGeom prst="rect">
            <a:avLst/>
          </a:prstGeom>
          <a:noFill/>
        </p:spPr>
        <p:txBody>
          <a:bodyPr wrap="square">
            <a:spAutoFit/>
          </a:bodyPr>
          <a:lstStyle/>
          <a:p>
            <a:pPr algn="l"/>
            <a:r>
              <a:rPr sz="1800" b="1" i="0">
                <a:solidFill>
                  <a:srgbClr val="00B4D8"/>
                </a:solidFill>
              </a:rPr>
              <a:t>2</a:t>
            </a:r>
          </a:p>
        </p:txBody>
      </p:sp>
      <p:sp>
        <p:nvSpPr>
          <p:cNvPr id="15" name="TextBox 14"/>
          <p:cNvSpPr txBox="1"/>
          <p:nvPr/>
        </p:nvSpPr>
        <p:spPr>
          <a:xfrm>
            <a:off x="2286000" y="1481328"/>
            <a:ext cx="1737360" cy="384048"/>
          </a:xfrm>
          <a:prstGeom prst="rect">
            <a:avLst/>
          </a:prstGeom>
          <a:noFill/>
        </p:spPr>
        <p:txBody>
          <a:bodyPr wrap="square">
            <a:spAutoFit/>
          </a:bodyPr>
          <a:lstStyle/>
          <a:p>
            <a:pPr algn="l"/>
            <a:r>
              <a:rPr sz="1200" b="1" i="0">
                <a:solidFill>
                  <a:srgbClr val="FFFFFF"/>
                </a:solidFill>
              </a:rPr>
              <a:t>Nettoyage</a:t>
            </a:r>
          </a:p>
        </p:txBody>
      </p:sp>
      <p:sp>
        <p:nvSpPr>
          <p:cNvPr id="16" name="TextBox 15"/>
          <p:cNvSpPr txBox="1"/>
          <p:nvPr/>
        </p:nvSpPr>
        <p:spPr>
          <a:xfrm>
            <a:off x="2286000" y="1901952"/>
            <a:ext cx="1737360" cy="1280160"/>
          </a:xfrm>
          <a:prstGeom prst="rect">
            <a:avLst/>
          </a:prstGeom>
          <a:noFill/>
        </p:spPr>
        <p:txBody>
          <a:bodyPr wrap="square">
            <a:spAutoFit/>
          </a:bodyPr>
          <a:lstStyle/>
          <a:p>
            <a:pPr algn="l"/>
            <a:r>
              <a:rPr sz="950" b="0" i="0">
                <a:solidFill>
                  <a:srgbClr val="CAE9FF"/>
                </a:solidFill>
              </a:rPr>
              <a:t>URLs · @mentions · HTML · ponctuation · minuscules</a:t>
            </a:r>
          </a:p>
        </p:txBody>
      </p:sp>
      <p:sp>
        <p:nvSpPr>
          <p:cNvPr id="17" name="TextBox 16"/>
          <p:cNvSpPr txBox="1"/>
          <p:nvPr/>
        </p:nvSpPr>
        <p:spPr>
          <a:xfrm>
            <a:off x="4087368" y="1828800"/>
            <a:ext cx="137160" cy="457200"/>
          </a:xfrm>
          <a:prstGeom prst="rect">
            <a:avLst/>
          </a:prstGeom>
          <a:noFill/>
        </p:spPr>
        <p:txBody>
          <a:bodyPr wrap="square">
            <a:spAutoFit/>
          </a:bodyPr>
          <a:lstStyle/>
          <a:p>
            <a:pPr algn="l"/>
            <a:r>
              <a:rPr sz="1800" b="1" i="0">
                <a:solidFill>
                  <a:srgbClr val="00B4D8"/>
                </a:solidFill>
              </a:rPr>
              <a:t>→</a:t>
            </a:r>
          </a:p>
        </p:txBody>
      </p:sp>
      <p:sp>
        <p:nvSpPr>
          <p:cNvPr id="18" name="Rectangle 17"/>
          <p:cNvSpPr/>
          <p:nvPr/>
        </p:nvSpPr>
        <p:spPr>
          <a:xfrm>
            <a:off x="4206240" y="1051560"/>
            <a:ext cx="1828800" cy="2194560"/>
          </a:xfrm>
          <a:prstGeom prst="rect">
            <a:avLst/>
          </a:prstGeom>
          <a:solidFill>
            <a:srgbClr val="15283A"/>
          </a:solidFill>
          <a:ln>
            <a:solidFill>
              <a:srgbClr val="006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1097280"/>
            <a:ext cx="365760" cy="365760"/>
          </a:xfrm>
          <a:prstGeom prst="rect">
            <a:avLst/>
          </a:prstGeom>
          <a:noFill/>
        </p:spPr>
        <p:txBody>
          <a:bodyPr wrap="square">
            <a:spAutoFit/>
          </a:bodyPr>
          <a:lstStyle/>
          <a:p>
            <a:pPr algn="l"/>
            <a:r>
              <a:rPr sz="1800" b="1" i="0">
                <a:solidFill>
                  <a:srgbClr val="00B4D8"/>
                </a:solidFill>
              </a:rPr>
              <a:t>3</a:t>
            </a:r>
          </a:p>
        </p:txBody>
      </p:sp>
      <p:sp>
        <p:nvSpPr>
          <p:cNvPr id="20" name="TextBox 19"/>
          <p:cNvSpPr txBox="1"/>
          <p:nvPr/>
        </p:nvSpPr>
        <p:spPr>
          <a:xfrm>
            <a:off x="4251960" y="1481328"/>
            <a:ext cx="1737360" cy="384048"/>
          </a:xfrm>
          <a:prstGeom prst="rect">
            <a:avLst/>
          </a:prstGeom>
          <a:noFill/>
        </p:spPr>
        <p:txBody>
          <a:bodyPr wrap="square">
            <a:spAutoFit/>
          </a:bodyPr>
          <a:lstStyle/>
          <a:p>
            <a:pPr algn="l"/>
            <a:r>
              <a:rPr sz="1200" b="1" i="0">
                <a:solidFill>
                  <a:srgbClr val="FFFFFF"/>
                </a:solidFill>
              </a:rPr>
              <a:t>TF-IDF</a:t>
            </a:r>
          </a:p>
        </p:txBody>
      </p:sp>
      <p:sp>
        <p:nvSpPr>
          <p:cNvPr id="21" name="TextBox 20"/>
          <p:cNvSpPr txBox="1"/>
          <p:nvPr/>
        </p:nvSpPr>
        <p:spPr>
          <a:xfrm>
            <a:off x="4251960" y="1901952"/>
            <a:ext cx="1737360" cy="1280160"/>
          </a:xfrm>
          <a:prstGeom prst="rect">
            <a:avLst/>
          </a:prstGeom>
          <a:noFill/>
        </p:spPr>
        <p:txBody>
          <a:bodyPr wrap="square">
            <a:spAutoFit/>
          </a:bodyPr>
          <a:lstStyle/>
          <a:p>
            <a:pPr algn="l"/>
            <a:r>
              <a:rPr sz="950" b="0" i="0">
                <a:solidFill>
                  <a:srgbClr val="CAE9FF"/>
                </a:solidFill>
              </a:rPr>
              <a:t>15 000 termes · unigrammes + bigrammes · sublinear_tf</a:t>
            </a:r>
          </a:p>
        </p:txBody>
      </p:sp>
      <p:sp>
        <p:nvSpPr>
          <p:cNvPr id="22" name="TextBox 21"/>
          <p:cNvSpPr txBox="1"/>
          <p:nvPr/>
        </p:nvSpPr>
        <p:spPr>
          <a:xfrm>
            <a:off x="6053328" y="1828800"/>
            <a:ext cx="137160" cy="457200"/>
          </a:xfrm>
          <a:prstGeom prst="rect">
            <a:avLst/>
          </a:prstGeom>
          <a:noFill/>
        </p:spPr>
        <p:txBody>
          <a:bodyPr wrap="square">
            <a:spAutoFit/>
          </a:bodyPr>
          <a:lstStyle/>
          <a:p>
            <a:pPr algn="l"/>
            <a:r>
              <a:rPr sz="1800" b="1" i="0">
                <a:solidFill>
                  <a:srgbClr val="00B4D8"/>
                </a:solidFill>
              </a:rPr>
              <a:t>→</a:t>
            </a:r>
          </a:p>
        </p:txBody>
      </p:sp>
      <p:sp>
        <p:nvSpPr>
          <p:cNvPr id="23" name="Rectangle 22"/>
          <p:cNvSpPr/>
          <p:nvPr/>
        </p:nvSpPr>
        <p:spPr>
          <a:xfrm>
            <a:off x="6172200" y="1051560"/>
            <a:ext cx="1828800" cy="2194560"/>
          </a:xfrm>
          <a:prstGeom prst="rect">
            <a:avLst/>
          </a:prstGeom>
          <a:solidFill>
            <a:srgbClr val="15283A"/>
          </a:solidFill>
          <a:ln>
            <a:solidFill>
              <a:srgbClr val="006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1097280"/>
            <a:ext cx="365760" cy="365760"/>
          </a:xfrm>
          <a:prstGeom prst="rect">
            <a:avLst/>
          </a:prstGeom>
          <a:noFill/>
        </p:spPr>
        <p:txBody>
          <a:bodyPr wrap="square">
            <a:spAutoFit/>
          </a:bodyPr>
          <a:lstStyle/>
          <a:p>
            <a:pPr algn="l"/>
            <a:r>
              <a:rPr sz="1800" b="1" i="0">
                <a:solidFill>
                  <a:srgbClr val="00B4D8"/>
                </a:solidFill>
              </a:rPr>
              <a:t>4</a:t>
            </a:r>
          </a:p>
        </p:txBody>
      </p:sp>
      <p:sp>
        <p:nvSpPr>
          <p:cNvPr id="25" name="TextBox 24"/>
          <p:cNvSpPr txBox="1"/>
          <p:nvPr/>
        </p:nvSpPr>
        <p:spPr>
          <a:xfrm>
            <a:off x="6217920" y="1481328"/>
            <a:ext cx="1737360" cy="384048"/>
          </a:xfrm>
          <a:prstGeom prst="rect">
            <a:avLst/>
          </a:prstGeom>
          <a:noFill/>
        </p:spPr>
        <p:txBody>
          <a:bodyPr wrap="square">
            <a:spAutoFit/>
          </a:bodyPr>
          <a:lstStyle/>
          <a:p>
            <a:pPr algn="l"/>
            <a:r>
              <a:rPr sz="1200" b="1" i="0">
                <a:solidFill>
                  <a:srgbClr val="FFFFFF"/>
                </a:solidFill>
              </a:rPr>
              <a:t>Features ling.</a:t>
            </a:r>
          </a:p>
        </p:txBody>
      </p:sp>
      <p:sp>
        <p:nvSpPr>
          <p:cNvPr id="26" name="TextBox 25"/>
          <p:cNvSpPr txBox="1"/>
          <p:nvPr/>
        </p:nvSpPr>
        <p:spPr>
          <a:xfrm>
            <a:off x="6217920" y="1901952"/>
            <a:ext cx="1737360" cy="1280160"/>
          </a:xfrm>
          <a:prstGeom prst="rect">
            <a:avLst/>
          </a:prstGeom>
          <a:noFill/>
        </p:spPr>
        <p:txBody>
          <a:bodyPr wrap="square">
            <a:spAutoFit/>
          </a:bodyPr>
          <a:lstStyle/>
          <a:p>
            <a:pPr algn="l"/>
            <a:r>
              <a:rPr sz="950" b="0" i="0">
                <a:solidFill>
                  <a:srgbClr val="CAE9FF"/>
                </a:solidFill>
              </a:rPr>
              <a:t>7 features numériques : word_count, uppercase_ratio…</a:t>
            </a:r>
          </a:p>
        </p:txBody>
      </p:sp>
      <p:sp>
        <p:nvSpPr>
          <p:cNvPr id="27" name="TextBox 26"/>
          <p:cNvSpPr txBox="1"/>
          <p:nvPr/>
        </p:nvSpPr>
        <p:spPr>
          <a:xfrm>
            <a:off x="8019288" y="1828800"/>
            <a:ext cx="137160" cy="457200"/>
          </a:xfrm>
          <a:prstGeom prst="rect">
            <a:avLst/>
          </a:prstGeom>
          <a:noFill/>
        </p:spPr>
        <p:txBody>
          <a:bodyPr wrap="square">
            <a:spAutoFit/>
          </a:bodyPr>
          <a:lstStyle/>
          <a:p>
            <a:pPr algn="l"/>
            <a:r>
              <a:rPr sz="1800" b="1" i="0">
                <a:solidFill>
                  <a:srgbClr val="00B4D8"/>
                </a:solidFill>
              </a:rPr>
              <a:t>→</a:t>
            </a:r>
          </a:p>
        </p:txBody>
      </p:sp>
      <p:sp>
        <p:nvSpPr>
          <p:cNvPr id="28" name="Rectangle 27"/>
          <p:cNvSpPr/>
          <p:nvPr/>
        </p:nvSpPr>
        <p:spPr>
          <a:xfrm>
            <a:off x="8138160" y="1051560"/>
            <a:ext cx="1828800" cy="2194560"/>
          </a:xfrm>
          <a:prstGeom prst="rect">
            <a:avLst/>
          </a:prstGeom>
          <a:solidFill>
            <a:srgbClr val="15283A"/>
          </a:solidFill>
          <a:ln>
            <a:solidFill>
              <a:srgbClr val="006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3880" y="1097280"/>
            <a:ext cx="365760" cy="365760"/>
          </a:xfrm>
          <a:prstGeom prst="rect">
            <a:avLst/>
          </a:prstGeom>
          <a:noFill/>
        </p:spPr>
        <p:txBody>
          <a:bodyPr wrap="square">
            <a:spAutoFit/>
          </a:bodyPr>
          <a:lstStyle/>
          <a:p>
            <a:pPr algn="l"/>
            <a:r>
              <a:rPr sz="1800" b="1" i="0">
                <a:solidFill>
                  <a:srgbClr val="00B4D8"/>
                </a:solidFill>
              </a:rPr>
              <a:t>5</a:t>
            </a:r>
          </a:p>
        </p:txBody>
      </p:sp>
      <p:sp>
        <p:nvSpPr>
          <p:cNvPr id="30" name="TextBox 29"/>
          <p:cNvSpPr txBox="1"/>
          <p:nvPr/>
        </p:nvSpPr>
        <p:spPr>
          <a:xfrm>
            <a:off x="8183880" y="1481328"/>
            <a:ext cx="1737360" cy="384048"/>
          </a:xfrm>
          <a:prstGeom prst="rect">
            <a:avLst/>
          </a:prstGeom>
          <a:noFill/>
        </p:spPr>
        <p:txBody>
          <a:bodyPr wrap="square">
            <a:spAutoFit/>
          </a:bodyPr>
          <a:lstStyle/>
          <a:p>
            <a:pPr algn="l"/>
            <a:r>
              <a:rPr sz="1200" b="1" i="0">
                <a:solidFill>
                  <a:srgbClr val="FFFFFF"/>
                </a:solidFill>
              </a:rPr>
              <a:t>ColumnTransformer</a:t>
            </a:r>
          </a:p>
        </p:txBody>
      </p:sp>
      <p:sp>
        <p:nvSpPr>
          <p:cNvPr id="31" name="TextBox 30"/>
          <p:cNvSpPr txBox="1"/>
          <p:nvPr/>
        </p:nvSpPr>
        <p:spPr>
          <a:xfrm>
            <a:off x="8183880" y="1901952"/>
            <a:ext cx="1737360" cy="1280160"/>
          </a:xfrm>
          <a:prstGeom prst="rect">
            <a:avLst/>
          </a:prstGeom>
          <a:noFill/>
        </p:spPr>
        <p:txBody>
          <a:bodyPr wrap="square">
            <a:spAutoFit/>
          </a:bodyPr>
          <a:lstStyle/>
          <a:p>
            <a:pPr algn="l"/>
            <a:r>
              <a:rPr sz="950" b="0" i="0">
                <a:solidFill>
                  <a:srgbClr val="CAE9FF"/>
                </a:solidFill>
              </a:rPr>
              <a:t>Fusion TF-IDF + features numériques (StandardScaler)</a:t>
            </a:r>
          </a:p>
        </p:txBody>
      </p:sp>
      <p:sp>
        <p:nvSpPr>
          <p:cNvPr id="32" name="TextBox 31"/>
          <p:cNvSpPr txBox="1"/>
          <p:nvPr/>
        </p:nvSpPr>
        <p:spPr>
          <a:xfrm>
            <a:off x="9985248" y="1828800"/>
            <a:ext cx="137160" cy="457200"/>
          </a:xfrm>
          <a:prstGeom prst="rect">
            <a:avLst/>
          </a:prstGeom>
          <a:noFill/>
        </p:spPr>
        <p:txBody>
          <a:bodyPr wrap="square">
            <a:spAutoFit/>
          </a:bodyPr>
          <a:lstStyle/>
          <a:p>
            <a:pPr algn="l"/>
            <a:r>
              <a:rPr sz="1800" b="1" i="0">
                <a:solidFill>
                  <a:srgbClr val="00B4D8"/>
                </a:solidFill>
              </a:rPr>
              <a:t>→</a:t>
            </a:r>
          </a:p>
        </p:txBody>
      </p:sp>
      <p:sp>
        <p:nvSpPr>
          <p:cNvPr id="33" name="Rectangle 32"/>
          <p:cNvSpPr/>
          <p:nvPr/>
        </p:nvSpPr>
        <p:spPr>
          <a:xfrm>
            <a:off x="10104120" y="1051560"/>
            <a:ext cx="1828800" cy="219456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49840" y="1097280"/>
            <a:ext cx="365760" cy="365760"/>
          </a:xfrm>
          <a:prstGeom prst="rect">
            <a:avLst/>
          </a:prstGeom>
          <a:noFill/>
        </p:spPr>
        <p:txBody>
          <a:bodyPr wrap="square">
            <a:spAutoFit/>
          </a:bodyPr>
          <a:lstStyle/>
          <a:p>
            <a:pPr algn="l"/>
            <a:r>
              <a:rPr sz="1800" b="1" i="0">
                <a:solidFill>
                  <a:srgbClr val="00B4D8"/>
                </a:solidFill>
              </a:rPr>
              <a:t>6</a:t>
            </a:r>
          </a:p>
        </p:txBody>
      </p:sp>
      <p:sp>
        <p:nvSpPr>
          <p:cNvPr id="35" name="TextBox 34"/>
          <p:cNvSpPr txBox="1"/>
          <p:nvPr/>
        </p:nvSpPr>
        <p:spPr>
          <a:xfrm>
            <a:off x="10149840" y="1481328"/>
            <a:ext cx="1737360" cy="384048"/>
          </a:xfrm>
          <a:prstGeom prst="rect">
            <a:avLst/>
          </a:prstGeom>
          <a:noFill/>
        </p:spPr>
        <p:txBody>
          <a:bodyPr wrap="square">
            <a:spAutoFit/>
          </a:bodyPr>
          <a:lstStyle/>
          <a:p>
            <a:pPr algn="l"/>
            <a:r>
              <a:rPr sz="1200" b="1" i="0">
                <a:solidFill>
                  <a:srgbClr val="FFFFFF"/>
                </a:solidFill>
              </a:rPr>
              <a:t>Matrice finale</a:t>
            </a:r>
          </a:p>
        </p:txBody>
      </p:sp>
      <p:sp>
        <p:nvSpPr>
          <p:cNvPr id="36" name="TextBox 35"/>
          <p:cNvSpPr txBox="1"/>
          <p:nvPr/>
        </p:nvSpPr>
        <p:spPr>
          <a:xfrm>
            <a:off x="10149840" y="1901952"/>
            <a:ext cx="1737360" cy="1280160"/>
          </a:xfrm>
          <a:prstGeom prst="rect">
            <a:avLst/>
          </a:prstGeom>
          <a:noFill/>
        </p:spPr>
        <p:txBody>
          <a:bodyPr wrap="square">
            <a:spAutoFit/>
          </a:bodyPr>
          <a:lstStyle/>
          <a:p>
            <a:pPr algn="l"/>
            <a:r>
              <a:rPr sz="950" b="0" i="0">
                <a:solidFill>
                  <a:srgbClr val="CAE9FF"/>
                </a:solidFill>
              </a:rPr>
              <a:t>6 420 × 15 007 pour l'entraînement</a:t>
            </a:r>
          </a:p>
        </p:txBody>
      </p:sp>
      <p:sp>
        <p:nvSpPr>
          <p:cNvPr id="37" name="TextBox 36"/>
          <p:cNvSpPr txBox="1"/>
          <p:nvPr/>
        </p:nvSpPr>
        <p:spPr>
          <a:xfrm>
            <a:off x="320040" y="3520440"/>
            <a:ext cx="11521440" cy="365760"/>
          </a:xfrm>
          <a:prstGeom prst="rect">
            <a:avLst/>
          </a:prstGeom>
          <a:noFill/>
        </p:spPr>
        <p:txBody>
          <a:bodyPr wrap="square">
            <a:spAutoFit/>
          </a:bodyPr>
          <a:lstStyle/>
          <a:p>
            <a:pPr algn="l"/>
            <a:r>
              <a:rPr sz="1400" b="1" i="0">
                <a:solidFill>
                  <a:srgbClr val="00B4D8"/>
                </a:solidFill>
              </a:rPr>
              <a:t>Features Linguistiques Extraites</a:t>
            </a:r>
          </a:p>
        </p:txBody>
      </p:sp>
      <p:sp>
        <p:nvSpPr>
          <p:cNvPr id="38" name="Rectangle 37"/>
          <p:cNvSpPr/>
          <p:nvPr/>
        </p:nvSpPr>
        <p:spPr>
          <a:xfrm>
            <a:off x="320040" y="3977639"/>
            <a:ext cx="1527048" cy="457200"/>
          </a:xfrm>
          <a:prstGeom prst="rect">
            <a:avLst/>
          </a:prstGeom>
          <a:solidFill>
            <a:srgbClr val="15283A"/>
          </a:solidFill>
          <a:ln>
            <a:solidFill>
              <a:srgbClr val="006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0040" y="4005072"/>
            <a:ext cx="1527048" cy="411480"/>
          </a:xfrm>
          <a:prstGeom prst="rect">
            <a:avLst/>
          </a:prstGeom>
          <a:noFill/>
        </p:spPr>
        <p:txBody>
          <a:bodyPr wrap="square">
            <a:spAutoFit/>
          </a:bodyPr>
          <a:lstStyle/>
          <a:p>
            <a:pPr algn="ctr"/>
            <a:r>
              <a:rPr sz="1000" b="0" i="0">
                <a:solidFill>
                  <a:srgbClr val="CAE9FF"/>
                </a:solidFill>
              </a:rPr>
              <a:t>word_count</a:t>
            </a:r>
          </a:p>
        </p:txBody>
      </p:sp>
      <p:sp>
        <p:nvSpPr>
          <p:cNvPr id="40" name="Rectangle 39"/>
          <p:cNvSpPr/>
          <p:nvPr/>
        </p:nvSpPr>
        <p:spPr>
          <a:xfrm>
            <a:off x="1920240" y="3977639"/>
            <a:ext cx="1527048" cy="457200"/>
          </a:xfrm>
          <a:prstGeom prst="rect">
            <a:avLst/>
          </a:prstGeom>
          <a:solidFill>
            <a:srgbClr val="15283A"/>
          </a:solidFill>
          <a:ln>
            <a:solidFill>
              <a:srgbClr val="006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20240" y="4005072"/>
            <a:ext cx="1527048" cy="411480"/>
          </a:xfrm>
          <a:prstGeom prst="rect">
            <a:avLst/>
          </a:prstGeom>
          <a:noFill/>
        </p:spPr>
        <p:txBody>
          <a:bodyPr wrap="square">
            <a:spAutoFit/>
          </a:bodyPr>
          <a:lstStyle/>
          <a:p>
            <a:pPr algn="ctr"/>
            <a:r>
              <a:rPr sz="1000" b="0" i="0">
                <a:solidFill>
                  <a:srgbClr val="CAE9FF"/>
                </a:solidFill>
              </a:rPr>
              <a:t>char_count</a:t>
            </a:r>
          </a:p>
        </p:txBody>
      </p:sp>
      <p:sp>
        <p:nvSpPr>
          <p:cNvPr id="42" name="Rectangle 41"/>
          <p:cNvSpPr/>
          <p:nvPr/>
        </p:nvSpPr>
        <p:spPr>
          <a:xfrm>
            <a:off x="3520440" y="3977639"/>
            <a:ext cx="1527048" cy="457200"/>
          </a:xfrm>
          <a:prstGeom prst="rect">
            <a:avLst/>
          </a:prstGeom>
          <a:solidFill>
            <a:srgbClr val="15283A"/>
          </a:solidFill>
          <a:ln>
            <a:solidFill>
              <a:srgbClr val="006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20440" y="4005072"/>
            <a:ext cx="1527048" cy="411480"/>
          </a:xfrm>
          <a:prstGeom prst="rect">
            <a:avLst/>
          </a:prstGeom>
          <a:noFill/>
        </p:spPr>
        <p:txBody>
          <a:bodyPr wrap="square">
            <a:spAutoFit/>
          </a:bodyPr>
          <a:lstStyle/>
          <a:p>
            <a:pPr algn="ctr"/>
            <a:r>
              <a:rPr sz="1000" b="0" i="0">
                <a:solidFill>
                  <a:srgbClr val="CAE9FF"/>
                </a:solidFill>
              </a:rPr>
              <a:t>avg_word_length</a:t>
            </a:r>
          </a:p>
        </p:txBody>
      </p:sp>
      <p:sp>
        <p:nvSpPr>
          <p:cNvPr id="44" name="Rectangle 43"/>
          <p:cNvSpPr/>
          <p:nvPr/>
        </p:nvSpPr>
        <p:spPr>
          <a:xfrm>
            <a:off x="5120640" y="3977639"/>
            <a:ext cx="1527048" cy="457200"/>
          </a:xfrm>
          <a:prstGeom prst="rect">
            <a:avLst/>
          </a:prstGeom>
          <a:solidFill>
            <a:srgbClr val="15283A"/>
          </a:solidFill>
          <a:ln>
            <a:solidFill>
              <a:srgbClr val="006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005072"/>
            <a:ext cx="1527048" cy="411480"/>
          </a:xfrm>
          <a:prstGeom prst="rect">
            <a:avLst/>
          </a:prstGeom>
          <a:noFill/>
        </p:spPr>
        <p:txBody>
          <a:bodyPr wrap="square">
            <a:spAutoFit/>
          </a:bodyPr>
          <a:lstStyle/>
          <a:p>
            <a:pPr algn="ctr"/>
            <a:r>
              <a:rPr sz="1000" b="0" i="0">
                <a:solidFill>
                  <a:srgbClr val="CAE9FF"/>
                </a:solidFill>
              </a:rPr>
              <a:t>unique_word_ratio</a:t>
            </a:r>
          </a:p>
        </p:txBody>
      </p:sp>
      <p:sp>
        <p:nvSpPr>
          <p:cNvPr id="46" name="Rectangle 45"/>
          <p:cNvSpPr/>
          <p:nvPr/>
        </p:nvSpPr>
        <p:spPr>
          <a:xfrm>
            <a:off x="6720840" y="3977639"/>
            <a:ext cx="1527048" cy="457200"/>
          </a:xfrm>
          <a:prstGeom prst="rect">
            <a:avLst/>
          </a:prstGeom>
          <a:solidFill>
            <a:srgbClr val="15283A"/>
          </a:solidFill>
          <a:ln>
            <a:solidFill>
              <a:srgbClr val="006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720840" y="4005072"/>
            <a:ext cx="1527048" cy="411480"/>
          </a:xfrm>
          <a:prstGeom prst="rect">
            <a:avLst/>
          </a:prstGeom>
          <a:noFill/>
        </p:spPr>
        <p:txBody>
          <a:bodyPr wrap="square">
            <a:spAutoFit/>
          </a:bodyPr>
          <a:lstStyle/>
          <a:p>
            <a:pPr algn="ctr"/>
            <a:r>
              <a:rPr sz="1000" b="0" i="0">
                <a:solidFill>
                  <a:srgbClr val="CAE9FF"/>
                </a:solidFill>
              </a:rPr>
              <a:t>uppercase_ratio</a:t>
            </a:r>
          </a:p>
        </p:txBody>
      </p:sp>
      <p:sp>
        <p:nvSpPr>
          <p:cNvPr id="48" name="Rectangle 47"/>
          <p:cNvSpPr/>
          <p:nvPr/>
        </p:nvSpPr>
        <p:spPr>
          <a:xfrm>
            <a:off x="8321040" y="3977639"/>
            <a:ext cx="1527048" cy="457200"/>
          </a:xfrm>
          <a:prstGeom prst="rect">
            <a:avLst/>
          </a:prstGeom>
          <a:solidFill>
            <a:srgbClr val="15283A"/>
          </a:solidFill>
          <a:ln>
            <a:solidFill>
              <a:srgbClr val="006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21040" y="4005072"/>
            <a:ext cx="1527048" cy="411480"/>
          </a:xfrm>
          <a:prstGeom prst="rect">
            <a:avLst/>
          </a:prstGeom>
          <a:noFill/>
        </p:spPr>
        <p:txBody>
          <a:bodyPr wrap="square">
            <a:spAutoFit/>
          </a:bodyPr>
          <a:lstStyle/>
          <a:p>
            <a:pPr algn="ctr"/>
            <a:r>
              <a:rPr sz="1000" b="0" i="0">
                <a:solidFill>
                  <a:srgbClr val="CAE9FF"/>
                </a:solidFill>
              </a:rPr>
              <a:t>exclamation_count</a:t>
            </a:r>
          </a:p>
        </p:txBody>
      </p:sp>
      <p:sp>
        <p:nvSpPr>
          <p:cNvPr id="50" name="Rectangle 49"/>
          <p:cNvSpPr/>
          <p:nvPr/>
        </p:nvSpPr>
        <p:spPr>
          <a:xfrm>
            <a:off x="9921240" y="3977639"/>
            <a:ext cx="1527048" cy="457200"/>
          </a:xfrm>
          <a:prstGeom prst="rect">
            <a:avLst/>
          </a:prstGeom>
          <a:solidFill>
            <a:srgbClr val="15283A"/>
          </a:solidFill>
          <a:ln>
            <a:solidFill>
              <a:srgbClr val="0064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921240" y="4005072"/>
            <a:ext cx="1527048" cy="411480"/>
          </a:xfrm>
          <a:prstGeom prst="rect">
            <a:avLst/>
          </a:prstGeom>
          <a:noFill/>
        </p:spPr>
        <p:txBody>
          <a:bodyPr wrap="square">
            <a:spAutoFit/>
          </a:bodyPr>
          <a:lstStyle/>
          <a:p>
            <a:pPr algn="ctr"/>
            <a:r>
              <a:rPr sz="1000" b="0" i="0">
                <a:solidFill>
                  <a:srgbClr val="CAE9FF"/>
                </a:solidFill>
              </a:rPr>
              <a:t>question_count</a:t>
            </a:r>
          </a:p>
        </p:txBody>
      </p:sp>
      <p:sp>
        <p:nvSpPr>
          <p:cNvPr id="52" name="TextBox 51"/>
          <p:cNvSpPr txBox="1"/>
          <p:nvPr/>
        </p:nvSpPr>
        <p:spPr>
          <a:xfrm>
            <a:off x="320040" y="4617720"/>
            <a:ext cx="11521440" cy="365760"/>
          </a:xfrm>
          <a:prstGeom prst="rect">
            <a:avLst/>
          </a:prstGeom>
          <a:noFill/>
        </p:spPr>
        <p:txBody>
          <a:bodyPr wrap="square">
            <a:spAutoFit/>
          </a:bodyPr>
          <a:lstStyle/>
          <a:p>
            <a:pPr algn="l"/>
            <a:r>
              <a:rPr sz="1150" b="0" i="1">
                <a:solidFill>
                  <a:srgbClr val="FFD166"/>
                </a:solidFill>
              </a:rPr>
              <a:t>→ Avantage : capture des signaux de surface (majuscules excessives, ponctuation agressive) absents du TF-IDF</a:t>
            </a:r>
          </a:p>
        </p:txBody>
      </p:sp>
      <p:pic>
        <p:nvPicPr>
          <p:cNvPr id="53" name="Picture 52" descr="feature_distributions.png"/>
          <p:cNvPicPr>
            <a:picLocks noChangeAspect="1"/>
          </p:cNvPicPr>
          <p:nvPr/>
        </p:nvPicPr>
        <p:blipFill>
          <a:blip r:embed="rId2"/>
          <a:stretch>
            <a:fillRect/>
          </a:stretch>
        </p:blipFill>
        <p:spPr>
          <a:xfrm>
            <a:off x="320040" y="5074920"/>
            <a:ext cx="11521440" cy="1600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286000"/>
            <a:ext cx="1280160"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280160" cy="1188720"/>
          </a:xfrm>
          <a:prstGeom prst="rect">
            <a:avLst/>
          </a:prstGeom>
          <a:noFill/>
        </p:spPr>
        <p:txBody>
          <a:bodyPr wrap="square">
            <a:spAutoFit/>
          </a:bodyPr>
          <a:lstStyle/>
          <a:p>
            <a:pPr algn="ctr"/>
            <a:r>
              <a:rPr sz="4400" b="1" i="0">
                <a:solidFill>
                  <a:srgbClr val="0D1B2A"/>
                </a:solidFill>
              </a:rPr>
              <a:t>04</a:t>
            </a:r>
          </a:p>
        </p:txBody>
      </p:sp>
      <p:sp>
        <p:nvSpPr>
          <p:cNvPr id="5" name="TextBox 4"/>
          <p:cNvSpPr txBox="1"/>
          <p:nvPr/>
        </p:nvSpPr>
        <p:spPr>
          <a:xfrm>
            <a:off x="2011680" y="2286000"/>
            <a:ext cx="9601200" cy="1005840"/>
          </a:xfrm>
          <a:prstGeom prst="rect">
            <a:avLst/>
          </a:prstGeom>
          <a:noFill/>
        </p:spPr>
        <p:txBody>
          <a:bodyPr wrap="square">
            <a:spAutoFit/>
          </a:bodyPr>
          <a:lstStyle/>
          <a:p>
            <a:pPr algn="l"/>
            <a:r>
              <a:rPr sz="3600" b="1" i="0">
                <a:solidFill>
                  <a:srgbClr val="FFFFFF"/>
                </a:solidFill>
              </a:rPr>
              <a:t>Architectures des Modèles</a:t>
            </a:r>
          </a:p>
        </p:txBody>
      </p:sp>
      <p:sp>
        <p:nvSpPr>
          <p:cNvPr id="6" name="TextBox 5"/>
          <p:cNvSpPr txBox="1"/>
          <p:nvPr/>
        </p:nvSpPr>
        <p:spPr>
          <a:xfrm>
            <a:off x="2011680" y="3337560"/>
            <a:ext cx="9601200" cy="640080"/>
          </a:xfrm>
          <a:prstGeom prst="rect">
            <a:avLst/>
          </a:prstGeom>
          <a:noFill/>
        </p:spPr>
        <p:txBody>
          <a:bodyPr wrap="square">
            <a:spAutoFit/>
          </a:bodyPr>
          <a:lstStyle/>
          <a:p>
            <a:pPr algn="l"/>
            <a:r>
              <a:rPr sz="1600" b="0" i="1">
                <a:solidFill>
                  <a:srgbClr val="CAE9FF"/>
                </a:solidFill>
              </a:rPr>
              <a:t>Modèles classiques (SVM · LR · RF · XGB) + Transformer (DistilBERT)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Modèles Classiques — Architectures &amp; Hyperparamètres</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Tous opèrent sur la représentation TF-IDF + features linguistiques</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05840"/>
            <a:ext cx="283464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024128"/>
            <a:ext cx="2834640" cy="566928"/>
          </a:xfrm>
          <a:prstGeom prst="rect">
            <a:avLst/>
          </a:prstGeom>
          <a:noFill/>
        </p:spPr>
        <p:txBody>
          <a:bodyPr wrap="square">
            <a:spAutoFit/>
          </a:bodyPr>
          <a:lstStyle/>
          <a:p>
            <a:pPr algn="ctr"/>
            <a:r>
              <a:rPr sz="1500" b="1" i="0">
                <a:solidFill>
                  <a:srgbClr val="0D1B2A"/>
                </a:solidFill>
              </a:rPr>
              <a:t>SVM
(LinearSVC)</a:t>
            </a:r>
          </a:p>
        </p:txBody>
      </p:sp>
      <p:sp>
        <p:nvSpPr>
          <p:cNvPr id="10" name="Rectangle 9"/>
          <p:cNvSpPr/>
          <p:nvPr/>
        </p:nvSpPr>
        <p:spPr>
          <a:xfrm>
            <a:off x="274320" y="1627632"/>
            <a:ext cx="2834640" cy="484632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737360"/>
            <a:ext cx="2697480" cy="4572000"/>
          </a:xfrm>
          <a:prstGeom prst="rect">
            <a:avLst/>
          </a:prstGeom>
          <a:noFill/>
        </p:spPr>
        <p:txBody>
          <a:bodyPr wrap="square">
            <a:spAutoFit/>
          </a:bodyPr>
          <a:lstStyle/>
          <a:p>
            <a:pPr algn="l"/>
            <a:r>
              <a:rPr sz="1100" b="0" i="0">
                <a:solidFill>
                  <a:srgbClr val="CAE9FF"/>
                </a:solidFill>
              </a:rPr>
              <a:t>Séparateur à Vaste Marge
• Cherche l'hyperplan de marge maximale
• Régularisation L2, C = 1.0
• Poids de classe équilibrés
• Grid search sur C ∈ {0.01, 0.1, 1, 5, 10}
→ Très efficace sur espaces haute dimension</a:t>
            </a:r>
          </a:p>
        </p:txBody>
      </p:sp>
      <p:sp>
        <p:nvSpPr>
          <p:cNvPr id="12" name="Rectangle 11"/>
          <p:cNvSpPr/>
          <p:nvPr/>
        </p:nvSpPr>
        <p:spPr>
          <a:xfrm>
            <a:off x="3172968" y="1005840"/>
            <a:ext cx="2834640" cy="59436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2968" y="1024128"/>
            <a:ext cx="2834640" cy="566928"/>
          </a:xfrm>
          <a:prstGeom prst="rect">
            <a:avLst/>
          </a:prstGeom>
          <a:noFill/>
        </p:spPr>
        <p:txBody>
          <a:bodyPr wrap="square">
            <a:spAutoFit/>
          </a:bodyPr>
          <a:lstStyle/>
          <a:p>
            <a:pPr algn="ctr"/>
            <a:r>
              <a:rPr sz="1500" b="1" i="0">
                <a:solidFill>
                  <a:srgbClr val="0D1B2A"/>
                </a:solidFill>
              </a:rPr>
              <a:t>Régression
Logistique</a:t>
            </a:r>
          </a:p>
        </p:txBody>
      </p:sp>
      <p:sp>
        <p:nvSpPr>
          <p:cNvPr id="14" name="Rectangle 13"/>
          <p:cNvSpPr/>
          <p:nvPr/>
        </p:nvSpPr>
        <p:spPr>
          <a:xfrm>
            <a:off x="3172968" y="1627632"/>
            <a:ext cx="2834640" cy="484632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64408" y="1737360"/>
            <a:ext cx="2697480" cy="4572000"/>
          </a:xfrm>
          <a:prstGeom prst="rect">
            <a:avLst/>
          </a:prstGeom>
          <a:noFill/>
        </p:spPr>
        <p:txBody>
          <a:bodyPr wrap="square">
            <a:spAutoFit/>
          </a:bodyPr>
          <a:lstStyle/>
          <a:p>
            <a:pPr algn="l"/>
            <a:r>
              <a:rPr sz="1100" b="0" i="0">
                <a:solidFill>
                  <a:srgbClr val="CAE9FF"/>
                </a:solidFill>
              </a:rPr>
              <a:t>Modèle linéaire probabiliste
• Régularisation L2, C = 1.0
• Solveur lbfgs, 1000 itérations
• Produit des probabilités calibrées
• AUC-ROC utilisable directement
→ Meilleure calibration probabiliste</a:t>
            </a:r>
          </a:p>
        </p:txBody>
      </p:sp>
      <p:sp>
        <p:nvSpPr>
          <p:cNvPr id="16" name="Rectangle 15"/>
          <p:cNvSpPr/>
          <p:nvPr/>
        </p:nvSpPr>
        <p:spPr>
          <a:xfrm>
            <a:off x="6071616" y="1005840"/>
            <a:ext cx="2834640" cy="59436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71616" y="1024128"/>
            <a:ext cx="2834640" cy="566928"/>
          </a:xfrm>
          <a:prstGeom prst="rect">
            <a:avLst/>
          </a:prstGeom>
          <a:noFill/>
        </p:spPr>
        <p:txBody>
          <a:bodyPr wrap="square">
            <a:spAutoFit/>
          </a:bodyPr>
          <a:lstStyle/>
          <a:p>
            <a:pPr algn="ctr"/>
            <a:r>
              <a:rPr sz="1500" b="1" i="0">
                <a:solidFill>
                  <a:srgbClr val="0D1B2A"/>
                </a:solidFill>
              </a:rPr>
              <a:t>Random
Forest</a:t>
            </a:r>
          </a:p>
        </p:txBody>
      </p:sp>
      <p:sp>
        <p:nvSpPr>
          <p:cNvPr id="18" name="Rectangle 17"/>
          <p:cNvSpPr/>
          <p:nvPr/>
        </p:nvSpPr>
        <p:spPr>
          <a:xfrm>
            <a:off x="6071616" y="1627632"/>
            <a:ext cx="2834640" cy="484632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63056" y="1737360"/>
            <a:ext cx="2697480" cy="4572000"/>
          </a:xfrm>
          <a:prstGeom prst="rect">
            <a:avLst/>
          </a:prstGeom>
          <a:noFill/>
        </p:spPr>
        <p:txBody>
          <a:bodyPr wrap="square">
            <a:spAutoFit/>
          </a:bodyPr>
          <a:lstStyle/>
          <a:p>
            <a:pPr algn="l"/>
            <a:r>
              <a:rPr sz="1100" b="0" i="0">
                <a:solidFill>
                  <a:srgbClr val="CAE9FF"/>
                </a:solidFill>
              </a:rPr>
              <a:t>Ensemble de 200 arbres
• Critère Gini, profondeur max = 20
• Bootstrap sampling
• Régularisation implicite par moyenne
• Résistant au surapprentissage
→ Interprétable via feature importance</a:t>
            </a:r>
          </a:p>
        </p:txBody>
      </p:sp>
      <p:sp>
        <p:nvSpPr>
          <p:cNvPr id="20" name="Rectangle 19"/>
          <p:cNvSpPr/>
          <p:nvPr/>
        </p:nvSpPr>
        <p:spPr>
          <a:xfrm>
            <a:off x="8970264" y="1005840"/>
            <a:ext cx="2834640" cy="59436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70264" y="1024128"/>
            <a:ext cx="2834640" cy="566928"/>
          </a:xfrm>
          <a:prstGeom prst="rect">
            <a:avLst/>
          </a:prstGeom>
          <a:noFill/>
        </p:spPr>
        <p:txBody>
          <a:bodyPr wrap="square">
            <a:spAutoFit/>
          </a:bodyPr>
          <a:lstStyle/>
          <a:p>
            <a:pPr algn="ctr"/>
            <a:r>
              <a:rPr sz="1500" b="1" i="0">
                <a:solidFill>
                  <a:srgbClr val="0D1B2A"/>
                </a:solidFill>
              </a:rPr>
              <a:t>XGBoost</a:t>
            </a:r>
          </a:p>
        </p:txBody>
      </p:sp>
      <p:sp>
        <p:nvSpPr>
          <p:cNvPr id="22" name="Rectangle 21"/>
          <p:cNvSpPr/>
          <p:nvPr/>
        </p:nvSpPr>
        <p:spPr>
          <a:xfrm>
            <a:off x="8970264" y="1627632"/>
            <a:ext cx="2834640" cy="484632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61704" y="1737360"/>
            <a:ext cx="2697480" cy="4572000"/>
          </a:xfrm>
          <a:prstGeom prst="rect">
            <a:avLst/>
          </a:prstGeom>
          <a:noFill/>
        </p:spPr>
        <p:txBody>
          <a:bodyPr wrap="square">
            <a:spAutoFit/>
          </a:bodyPr>
          <a:lstStyle/>
          <a:p>
            <a:pPr algn="l"/>
            <a:r>
              <a:rPr sz="1100" b="0" i="0">
                <a:solidFill>
                  <a:srgbClr val="CAE9FF"/>
                </a:solidFill>
              </a:rPr>
              <a:t>Gradient Boosting optimisé
• 200 estimateurs, depth = 6
• Learning rate = 0.1
• Régularisation L1 + L2
• Correction itérative des erreurs
→ Robuste aux features corrélées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Architecture Transformer — DistilBERT</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distilbert-base-uncased — Fine-tuning sur le corpus COVID-19</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05840"/>
            <a:ext cx="6583680" cy="6126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97280"/>
            <a:ext cx="6400800" cy="521208"/>
          </a:xfrm>
          <a:prstGeom prst="rect">
            <a:avLst/>
          </a:prstGeom>
          <a:noFill/>
        </p:spPr>
        <p:txBody>
          <a:bodyPr wrap="square">
            <a:spAutoFit/>
          </a:bodyPr>
          <a:lstStyle/>
          <a:p>
            <a:pPr algn="l"/>
            <a:r>
              <a:rPr sz="1100" b="1" i="0">
                <a:solidFill>
                  <a:srgbClr val="0D1B2A"/>
                </a:solidFill>
              </a:rPr>
              <a:t>Input : Tweet (max 128 tokens)</a:t>
            </a:r>
          </a:p>
        </p:txBody>
      </p:sp>
      <p:sp>
        <p:nvSpPr>
          <p:cNvPr id="10" name="Rectangle 9"/>
          <p:cNvSpPr/>
          <p:nvPr/>
        </p:nvSpPr>
        <p:spPr>
          <a:xfrm>
            <a:off x="274320" y="1655064"/>
            <a:ext cx="6583680" cy="612648"/>
          </a:xfrm>
          <a:prstGeom prst="rect">
            <a:avLst/>
          </a:prstGeom>
          <a:solidFill>
            <a:srgbClr val="15283A"/>
          </a:solidFill>
          <a:ln>
            <a:solidFill>
              <a:srgbClr val="2A5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746504"/>
            <a:ext cx="6400800" cy="521208"/>
          </a:xfrm>
          <a:prstGeom prst="rect">
            <a:avLst/>
          </a:prstGeom>
          <a:noFill/>
        </p:spPr>
        <p:txBody>
          <a:bodyPr wrap="square">
            <a:spAutoFit/>
          </a:bodyPr>
          <a:lstStyle/>
          <a:p>
            <a:pPr algn="l"/>
            <a:r>
              <a:rPr sz="1100" b="0" i="0">
                <a:solidFill>
                  <a:srgbClr val="CAE9FF"/>
                </a:solidFill>
              </a:rPr>
              <a:t>[CLS] tok1 tok2 ... [SEP]  → IDs + masque d'attention</a:t>
            </a:r>
          </a:p>
        </p:txBody>
      </p:sp>
      <p:sp>
        <p:nvSpPr>
          <p:cNvPr id="12" name="Rectangle 11"/>
          <p:cNvSpPr/>
          <p:nvPr/>
        </p:nvSpPr>
        <p:spPr>
          <a:xfrm>
            <a:off x="274320" y="2304288"/>
            <a:ext cx="6583680" cy="612648"/>
          </a:xfrm>
          <a:prstGeom prst="rect">
            <a:avLst/>
          </a:prstGeom>
          <a:solidFill>
            <a:srgbClr val="006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395728"/>
            <a:ext cx="6400800" cy="521208"/>
          </a:xfrm>
          <a:prstGeom prst="rect">
            <a:avLst/>
          </a:prstGeom>
          <a:noFill/>
        </p:spPr>
        <p:txBody>
          <a:bodyPr wrap="square">
            <a:spAutoFit/>
          </a:bodyPr>
          <a:lstStyle/>
          <a:p>
            <a:pPr algn="l"/>
            <a:r>
              <a:rPr sz="1100" b="1" i="0">
                <a:solidFill>
                  <a:srgbClr val="0D1B2A"/>
                </a:solidFill>
              </a:rPr>
              <a:t>DistilBERT Encoder — 6 couches Transformer</a:t>
            </a:r>
          </a:p>
        </p:txBody>
      </p:sp>
      <p:sp>
        <p:nvSpPr>
          <p:cNvPr id="14" name="Rectangle 13"/>
          <p:cNvSpPr/>
          <p:nvPr/>
        </p:nvSpPr>
        <p:spPr>
          <a:xfrm>
            <a:off x="274320" y="2953512"/>
            <a:ext cx="6583680" cy="612648"/>
          </a:xfrm>
          <a:prstGeom prst="rect">
            <a:avLst/>
          </a:prstGeom>
          <a:solidFill>
            <a:srgbClr val="15283A"/>
          </a:solidFill>
          <a:ln>
            <a:solidFill>
              <a:srgbClr val="2A5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044952"/>
            <a:ext cx="6400800" cy="521208"/>
          </a:xfrm>
          <a:prstGeom prst="rect">
            <a:avLst/>
          </a:prstGeom>
          <a:noFill/>
        </p:spPr>
        <p:txBody>
          <a:bodyPr wrap="square">
            <a:spAutoFit/>
          </a:bodyPr>
          <a:lstStyle/>
          <a:p>
            <a:pPr algn="l"/>
            <a:r>
              <a:rPr sz="1100" b="0" i="0">
                <a:solidFill>
                  <a:srgbClr val="CAE9FF"/>
                </a:solidFill>
              </a:rPr>
              <a:t>Chaque couche : Multi-Head Self-Attention (12 têtes) + Feed-Forward (3 072 neurones)</a:t>
            </a:r>
          </a:p>
        </p:txBody>
      </p:sp>
      <p:sp>
        <p:nvSpPr>
          <p:cNvPr id="16" name="Rectangle 15"/>
          <p:cNvSpPr/>
          <p:nvPr/>
        </p:nvSpPr>
        <p:spPr>
          <a:xfrm>
            <a:off x="274320" y="3602736"/>
            <a:ext cx="6583680" cy="612648"/>
          </a:xfrm>
          <a:prstGeom prst="rect">
            <a:avLst/>
          </a:prstGeom>
          <a:solidFill>
            <a:srgbClr val="15283A"/>
          </a:solidFill>
          <a:ln>
            <a:solidFill>
              <a:srgbClr val="2A5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694176"/>
            <a:ext cx="6400800" cy="521208"/>
          </a:xfrm>
          <a:prstGeom prst="rect">
            <a:avLst/>
          </a:prstGeom>
          <a:noFill/>
        </p:spPr>
        <p:txBody>
          <a:bodyPr wrap="square">
            <a:spAutoFit/>
          </a:bodyPr>
          <a:lstStyle/>
          <a:p>
            <a:pPr algn="l"/>
            <a:r>
              <a:rPr sz="1100" b="0" i="0">
                <a:solidFill>
                  <a:srgbClr val="CAE9FF"/>
                </a:solidFill>
              </a:rPr>
              <a:t>Représentation [CLS] — dim = 768 → résumé sémantique de la séquence</a:t>
            </a:r>
          </a:p>
        </p:txBody>
      </p:sp>
      <p:sp>
        <p:nvSpPr>
          <p:cNvPr id="18" name="Rectangle 17"/>
          <p:cNvSpPr/>
          <p:nvPr/>
        </p:nvSpPr>
        <p:spPr>
          <a:xfrm>
            <a:off x="274320" y="4251960"/>
            <a:ext cx="6583680" cy="612648"/>
          </a:xfrm>
          <a:prstGeom prst="rect">
            <a:avLst/>
          </a:prstGeom>
          <a:solidFill>
            <a:srgbClr val="006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43400"/>
            <a:ext cx="6400800" cy="521208"/>
          </a:xfrm>
          <a:prstGeom prst="rect">
            <a:avLst/>
          </a:prstGeom>
          <a:noFill/>
        </p:spPr>
        <p:txBody>
          <a:bodyPr wrap="square">
            <a:spAutoFit/>
          </a:bodyPr>
          <a:lstStyle/>
          <a:p>
            <a:pPr algn="l"/>
            <a:r>
              <a:rPr sz="1100" b="1" i="0">
                <a:solidFill>
                  <a:srgbClr val="0D1B2A"/>
                </a:solidFill>
              </a:rPr>
              <a:t>Tête de classification : Dropout(0.3) → Linear(768→256) → ReLU → Dropout(0.3) → Linear(256→2)</a:t>
            </a:r>
          </a:p>
        </p:txBody>
      </p:sp>
      <p:sp>
        <p:nvSpPr>
          <p:cNvPr id="20" name="Rectangle 19"/>
          <p:cNvSpPr/>
          <p:nvPr/>
        </p:nvSpPr>
        <p:spPr>
          <a:xfrm>
            <a:off x="274320" y="4901184"/>
            <a:ext cx="6583680" cy="6126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992624"/>
            <a:ext cx="6400800" cy="521208"/>
          </a:xfrm>
          <a:prstGeom prst="rect">
            <a:avLst/>
          </a:prstGeom>
          <a:noFill/>
        </p:spPr>
        <p:txBody>
          <a:bodyPr wrap="square">
            <a:spAutoFit/>
          </a:bodyPr>
          <a:lstStyle/>
          <a:p>
            <a:pPr algn="l"/>
            <a:r>
              <a:rPr sz="1100" b="1" i="0">
                <a:solidFill>
                  <a:srgbClr val="0D1B2A"/>
                </a:solidFill>
              </a:rPr>
              <a:t>Sortie : Softmax → P(fake) + P(real)</a:t>
            </a:r>
          </a:p>
        </p:txBody>
      </p:sp>
      <p:sp>
        <p:nvSpPr>
          <p:cNvPr id="22" name="Rectangle 21"/>
          <p:cNvSpPr/>
          <p:nvPr/>
        </p:nvSpPr>
        <p:spPr>
          <a:xfrm>
            <a:off x="7132320" y="1005840"/>
            <a:ext cx="4754880" cy="576072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0" y="1097280"/>
            <a:ext cx="4572000" cy="365760"/>
          </a:xfrm>
          <a:prstGeom prst="rect">
            <a:avLst/>
          </a:prstGeom>
          <a:noFill/>
        </p:spPr>
        <p:txBody>
          <a:bodyPr wrap="square">
            <a:spAutoFit/>
          </a:bodyPr>
          <a:lstStyle/>
          <a:p>
            <a:pPr algn="l"/>
            <a:r>
              <a:rPr sz="1300" b="1" i="0">
                <a:solidFill>
                  <a:srgbClr val="00B4D8"/>
                </a:solidFill>
              </a:rPr>
              <a:t>Hyperparamètres d'Entraînement</a:t>
            </a:r>
          </a:p>
        </p:txBody>
      </p:sp>
      <p:sp>
        <p:nvSpPr>
          <p:cNvPr id="24" name="TextBox 23"/>
          <p:cNvSpPr txBox="1"/>
          <p:nvPr/>
        </p:nvSpPr>
        <p:spPr>
          <a:xfrm>
            <a:off x="7223760" y="1554480"/>
            <a:ext cx="1645920" cy="502920"/>
          </a:xfrm>
          <a:prstGeom prst="rect">
            <a:avLst/>
          </a:prstGeom>
          <a:noFill/>
        </p:spPr>
        <p:txBody>
          <a:bodyPr wrap="square">
            <a:spAutoFit/>
          </a:bodyPr>
          <a:lstStyle/>
          <a:p>
            <a:pPr algn="l"/>
            <a:r>
              <a:rPr sz="1050" b="1" i="0">
                <a:solidFill>
                  <a:srgbClr val="CAE9FF"/>
                </a:solidFill>
              </a:rPr>
              <a:t>Optimizer :</a:t>
            </a:r>
          </a:p>
        </p:txBody>
      </p:sp>
      <p:sp>
        <p:nvSpPr>
          <p:cNvPr id="25" name="TextBox 24"/>
          <p:cNvSpPr txBox="1"/>
          <p:nvPr/>
        </p:nvSpPr>
        <p:spPr>
          <a:xfrm>
            <a:off x="8869680" y="1554480"/>
            <a:ext cx="2926080" cy="502920"/>
          </a:xfrm>
          <a:prstGeom prst="rect">
            <a:avLst/>
          </a:prstGeom>
          <a:noFill/>
        </p:spPr>
        <p:txBody>
          <a:bodyPr wrap="square">
            <a:spAutoFit/>
          </a:bodyPr>
          <a:lstStyle/>
          <a:p>
            <a:pPr algn="l"/>
            <a:r>
              <a:rPr sz="1050" b="0" i="0">
                <a:solidFill>
                  <a:srgbClr val="FFFFFF"/>
                </a:solidFill>
              </a:rPr>
              <a:t>AdamW (weight_decay=0.01)</a:t>
            </a:r>
          </a:p>
        </p:txBody>
      </p:sp>
      <p:sp>
        <p:nvSpPr>
          <p:cNvPr id="26" name="TextBox 25"/>
          <p:cNvSpPr txBox="1"/>
          <p:nvPr/>
        </p:nvSpPr>
        <p:spPr>
          <a:xfrm>
            <a:off x="7223760" y="2084832"/>
            <a:ext cx="1645920" cy="502920"/>
          </a:xfrm>
          <a:prstGeom prst="rect">
            <a:avLst/>
          </a:prstGeom>
          <a:noFill/>
        </p:spPr>
        <p:txBody>
          <a:bodyPr wrap="square">
            <a:spAutoFit/>
          </a:bodyPr>
          <a:lstStyle/>
          <a:p>
            <a:pPr algn="l"/>
            <a:r>
              <a:rPr sz="1050" b="1" i="0">
                <a:solidFill>
                  <a:srgbClr val="CAE9FF"/>
                </a:solidFill>
              </a:rPr>
              <a:t>Learning rate :</a:t>
            </a:r>
          </a:p>
        </p:txBody>
      </p:sp>
      <p:sp>
        <p:nvSpPr>
          <p:cNvPr id="27" name="TextBox 26"/>
          <p:cNvSpPr txBox="1"/>
          <p:nvPr/>
        </p:nvSpPr>
        <p:spPr>
          <a:xfrm>
            <a:off x="8869680" y="2084832"/>
            <a:ext cx="2926080" cy="502920"/>
          </a:xfrm>
          <a:prstGeom prst="rect">
            <a:avLst/>
          </a:prstGeom>
          <a:noFill/>
        </p:spPr>
        <p:txBody>
          <a:bodyPr wrap="square">
            <a:spAutoFit/>
          </a:bodyPr>
          <a:lstStyle/>
          <a:p>
            <a:pPr algn="l"/>
            <a:r>
              <a:rPr sz="1050" b="0" i="0">
                <a:solidFill>
                  <a:srgbClr val="FFFFFF"/>
                </a:solidFill>
              </a:rPr>
              <a:t>2 × 10⁻⁵ (linéaire + warm-up 10 %)</a:t>
            </a:r>
          </a:p>
        </p:txBody>
      </p:sp>
      <p:sp>
        <p:nvSpPr>
          <p:cNvPr id="28" name="TextBox 27"/>
          <p:cNvSpPr txBox="1"/>
          <p:nvPr/>
        </p:nvSpPr>
        <p:spPr>
          <a:xfrm>
            <a:off x="7223760" y="2615184"/>
            <a:ext cx="1645920" cy="502920"/>
          </a:xfrm>
          <a:prstGeom prst="rect">
            <a:avLst/>
          </a:prstGeom>
          <a:noFill/>
        </p:spPr>
        <p:txBody>
          <a:bodyPr wrap="square">
            <a:spAutoFit/>
          </a:bodyPr>
          <a:lstStyle/>
          <a:p>
            <a:pPr algn="l"/>
            <a:r>
              <a:rPr sz="1050" b="1" i="0">
                <a:solidFill>
                  <a:srgbClr val="CAE9FF"/>
                </a:solidFill>
              </a:rPr>
              <a:t>Batch size :</a:t>
            </a:r>
          </a:p>
        </p:txBody>
      </p:sp>
      <p:sp>
        <p:nvSpPr>
          <p:cNvPr id="29" name="TextBox 28"/>
          <p:cNvSpPr txBox="1"/>
          <p:nvPr/>
        </p:nvSpPr>
        <p:spPr>
          <a:xfrm>
            <a:off x="8869680" y="2615184"/>
            <a:ext cx="2926080" cy="502920"/>
          </a:xfrm>
          <a:prstGeom prst="rect">
            <a:avLst/>
          </a:prstGeom>
          <a:noFill/>
        </p:spPr>
        <p:txBody>
          <a:bodyPr wrap="square">
            <a:spAutoFit/>
          </a:bodyPr>
          <a:lstStyle/>
          <a:p>
            <a:pPr algn="l"/>
            <a:r>
              <a:rPr sz="1050" b="0" i="0">
                <a:solidFill>
                  <a:srgbClr val="FFFFFF"/>
                </a:solidFill>
              </a:rPr>
              <a:t>32</a:t>
            </a:r>
          </a:p>
        </p:txBody>
      </p:sp>
      <p:sp>
        <p:nvSpPr>
          <p:cNvPr id="30" name="TextBox 29"/>
          <p:cNvSpPr txBox="1"/>
          <p:nvPr/>
        </p:nvSpPr>
        <p:spPr>
          <a:xfrm>
            <a:off x="7223760" y="3145536"/>
            <a:ext cx="1645920" cy="502920"/>
          </a:xfrm>
          <a:prstGeom prst="rect">
            <a:avLst/>
          </a:prstGeom>
          <a:noFill/>
        </p:spPr>
        <p:txBody>
          <a:bodyPr wrap="square">
            <a:spAutoFit/>
          </a:bodyPr>
          <a:lstStyle/>
          <a:p>
            <a:pPr algn="l"/>
            <a:r>
              <a:rPr sz="1050" b="1" i="0">
                <a:solidFill>
                  <a:srgbClr val="CAE9FF"/>
                </a:solidFill>
              </a:rPr>
              <a:t>Epochs :</a:t>
            </a:r>
          </a:p>
        </p:txBody>
      </p:sp>
      <p:sp>
        <p:nvSpPr>
          <p:cNvPr id="31" name="TextBox 30"/>
          <p:cNvSpPr txBox="1"/>
          <p:nvPr/>
        </p:nvSpPr>
        <p:spPr>
          <a:xfrm>
            <a:off x="8869680" y="3145536"/>
            <a:ext cx="2926080" cy="502920"/>
          </a:xfrm>
          <a:prstGeom prst="rect">
            <a:avLst/>
          </a:prstGeom>
          <a:noFill/>
        </p:spPr>
        <p:txBody>
          <a:bodyPr wrap="square">
            <a:spAutoFit/>
          </a:bodyPr>
          <a:lstStyle/>
          <a:p>
            <a:pPr algn="l"/>
            <a:r>
              <a:rPr sz="1050" b="0" i="0">
                <a:solidFill>
                  <a:srgbClr val="FFFFFF"/>
                </a:solidFill>
              </a:rPr>
              <a:t>3 (early stopping sur val F1)</a:t>
            </a:r>
          </a:p>
        </p:txBody>
      </p:sp>
      <p:sp>
        <p:nvSpPr>
          <p:cNvPr id="32" name="TextBox 31"/>
          <p:cNvSpPr txBox="1"/>
          <p:nvPr/>
        </p:nvSpPr>
        <p:spPr>
          <a:xfrm>
            <a:off x="7223760" y="3675888"/>
            <a:ext cx="1645920" cy="502920"/>
          </a:xfrm>
          <a:prstGeom prst="rect">
            <a:avLst/>
          </a:prstGeom>
          <a:noFill/>
        </p:spPr>
        <p:txBody>
          <a:bodyPr wrap="square">
            <a:spAutoFit/>
          </a:bodyPr>
          <a:lstStyle/>
          <a:p>
            <a:pPr algn="l"/>
            <a:r>
              <a:rPr sz="1050" b="1" i="0">
                <a:solidFill>
                  <a:srgbClr val="CAE9FF"/>
                </a:solidFill>
              </a:rPr>
              <a:t>Max tokens :</a:t>
            </a:r>
          </a:p>
        </p:txBody>
      </p:sp>
      <p:sp>
        <p:nvSpPr>
          <p:cNvPr id="33" name="TextBox 32"/>
          <p:cNvSpPr txBox="1"/>
          <p:nvPr/>
        </p:nvSpPr>
        <p:spPr>
          <a:xfrm>
            <a:off x="8869680" y="3675888"/>
            <a:ext cx="2926080" cy="502920"/>
          </a:xfrm>
          <a:prstGeom prst="rect">
            <a:avLst/>
          </a:prstGeom>
          <a:noFill/>
        </p:spPr>
        <p:txBody>
          <a:bodyPr wrap="square">
            <a:spAutoFit/>
          </a:bodyPr>
          <a:lstStyle/>
          <a:p>
            <a:pPr algn="l"/>
            <a:r>
              <a:rPr sz="1050" b="0" i="0">
                <a:solidFill>
                  <a:srgbClr val="FFFFFF"/>
                </a:solidFill>
              </a:rPr>
              <a:t>128 (padding/truncation)</a:t>
            </a:r>
          </a:p>
        </p:txBody>
      </p:sp>
      <p:sp>
        <p:nvSpPr>
          <p:cNvPr id="34" name="TextBox 33"/>
          <p:cNvSpPr txBox="1"/>
          <p:nvPr/>
        </p:nvSpPr>
        <p:spPr>
          <a:xfrm>
            <a:off x="7223760" y="4206240"/>
            <a:ext cx="1645920" cy="502920"/>
          </a:xfrm>
          <a:prstGeom prst="rect">
            <a:avLst/>
          </a:prstGeom>
          <a:noFill/>
        </p:spPr>
        <p:txBody>
          <a:bodyPr wrap="square">
            <a:spAutoFit/>
          </a:bodyPr>
          <a:lstStyle/>
          <a:p>
            <a:pPr algn="l"/>
            <a:r>
              <a:rPr sz="1050" b="1" i="0">
                <a:solidFill>
                  <a:srgbClr val="CAE9FF"/>
                </a:solidFill>
              </a:rPr>
              <a:t>Gradient clip :</a:t>
            </a:r>
          </a:p>
        </p:txBody>
      </p:sp>
      <p:sp>
        <p:nvSpPr>
          <p:cNvPr id="35" name="TextBox 34"/>
          <p:cNvSpPr txBox="1"/>
          <p:nvPr/>
        </p:nvSpPr>
        <p:spPr>
          <a:xfrm>
            <a:off x="8869680" y="4206240"/>
            <a:ext cx="2926080" cy="502920"/>
          </a:xfrm>
          <a:prstGeom prst="rect">
            <a:avLst/>
          </a:prstGeom>
          <a:noFill/>
        </p:spPr>
        <p:txBody>
          <a:bodyPr wrap="square">
            <a:spAutoFit/>
          </a:bodyPr>
          <a:lstStyle/>
          <a:p>
            <a:pPr algn="l"/>
            <a:r>
              <a:rPr sz="1050" b="0" i="0">
                <a:solidFill>
                  <a:srgbClr val="FFFFFF"/>
                </a:solidFill>
              </a:rPr>
              <a:t>1.0 (stabilisation)</a:t>
            </a:r>
          </a:p>
        </p:txBody>
      </p:sp>
      <p:sp>
        <p:nvSpPr>
          <p:cNvPr id="36" name="TextBox 35"/>
          <p:cNvSpPr txBox="1"/>
          <p:nvPr/>
        </p:nvSpPr>
        <p:spPr>
          <a:xfrm>
            <a:off x="7223760" y="4736592"/>
            <a:ext cx="1645920" cy="502920"/>
          </a:xfrm>
          <a:prstGeom prst="rect">
            <a:avLst/>
          </a:prstGeom>
          <a:noFill/>
        </p:spPr>
        <p:txBody>
          <a:bodyPr wrap="square">
            <a:spAutoFit/>
          </a:bodyPr>
          <a:lstStyle/>
          <a:p>
            <a:pPr algn="l"/>
            <a:r>
              <a:rPr sz="1050" b="1" i="0">
                <a:solidFill>
                  <a:srgbClr val="CAE9FF"/>
                </a:solidFill>
              </a:rPr>
              <a:t>Pré-entraîné sur :</a:t>
            </a:r>
          </a:p>
        </p:txBody>
      </p:sp>
      <p:sp>
        <p:nvSpPr>
          <p:cNvPr id="37" name="TextBox 36"/>
          <p:cNvSpPr txBox="1"/>
          <p:nvPr/>
        </p:nvSpPr>
        <p:spPr>
          <a:xfrm>
            <a:off x="8869680" y="4736592"/>
            <a:ext cx="2926080" cy="502920"/>
          </a:xfrm>
          <a:prstGeom prst="rect">
            <a:avLst/>
          </a:prstGeom>
          <a:noFill/>
        </p:spPr>
        <p:txBody>
          <a:bodyPr wrap="square">
            <a:spAutoFit/>
          </a:bodyPr>
          <a:lstStyle/>
          <a:p>
            <a:pPr algn="l"/>
            <a:r>
              <a:rPr sz="1050" b="0" i="0">
                <a:solidFill>
                  <a:srgbClr val="FFFFFF"/>
                </a:solidFill>
              </a:rPr>
              <a:t>Wikipedia + BooksCorpus
(11 GB de texte)</a:t>
            </a:r>
          </a:p>
        </p:txBody>
      </p:sp>
      <p:sp>
        <p:nvSpPr>
          <p:cNvPr id="38" name="TextBox 37"/>
          <p:cNvSpPr txBox="1"/>
          <p:nvPr/>
        </p:nvSpPr>
        <p:spPr>
          <a:xfrm>
            <a:off x="7223760" y="5266944"/>
            <a:ext cx="1645920" cy="502920"/>
          </a:xfrm>
          <a:prstGeom prst="rect">
            <a:avLst/>
          </a:prstGeom>
          <a:noFill/>
        </p:spPr>
        <p:txBody>
          <a:bodyPr wrap="square">
            <a:spAutoFit/>
          </a:bodyPr>
          <a:lstStyle/>
          <a:p>
            <a:pPr algn="l"/>
            <a:r>
              <a:rPr sz="1050" b="1" i="0">
                <a:solidFill>
                  <a:srgbClr val="CAE9FF"/>
                </a:solidFill>
              </a:rPr>
              <a:t>Poids :</a:t>
            </a:r>
          </a:p>
        </p:txBody>
      </p:sp>
      <p:sp>
        <p:nvSpPr>
          <p:cNvPr id="39" name="TextBox 38"/>
          <p:cNvSpPr txBox="1"/>
          <p:nvPr/>
        </p:nvSpPr>
        <p:spPr>
          <a:xfrm>
            <a:off x="8869680" y="5266944"/>
            <a:ext cx="2926080" cy="502920"/>
          </a:xfrm>
          <a:prstGeom prst="rect">
            <a:avLst/>
          </a:prstGeom>
          <a:noFill/>
        </p:spPr>
        <p:txBody>
          <a:bodyPr wrap="square">
            <a:spAutoFit/>
          </a:bodyPr>
          <a:lstStyle/>
          <a:p>
            <a:pPr algn="l"/>
            <a:r>
              <a:rPr sz="1050" b="0" i="0">
                <a:solidFill>
                  <a:srgbClr val="FFFFFF"/>
                </a:solidFill>
              </a:rPr>
              <a:t>66 M paramètres (vs 110 M BERT)
→ 40 % plus léger, 60 % plus rapide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286000"/>
            <a:ext cx="1280160"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280160" cy="1188720"/>
          </a:xfrm>
          <a:prstGeom prst="rect">
            <a:avLst/>
          </a:prstGeom>
          <a:noFill/>
        </p:spPr>
        <p:txBody>
          <a:bodyPr wrap="square">
            <a:spAutoFit/>
          </a:bodyPr>
          <a:lstStyle/>
          <a:p>
            <a:pPr algn="ctr"/>
            <a:r>
              <a:rPr sz="4400" b="1" i="0">
                <a:solidFill>
                  <a:srgbClr val="0D1B2A"/>
                </a:solidFill>
              </a:rPr>
              <a:t>05</a:t>
            </a:r>
          </a:p>
        </p:txBody>
      </p:sp>
      <p:sp>
        <p:nvSpPr>
          <p:cNvPr id="5" name="TextBox 4"/>
          <p:cNvSpPr txBox="1"/>
          <p:nvPr/>
        </p:nvSpPr>
        <p:spPr>
          <a:xfrm>
            <a:off x="2011680" y="2286000"/>
            <a:ext cx="9601200" cy="1005840"/>
          </a:xfrm>
          <a:prstGeom prst="rect">
            <a:avLst/>
          </a:prstGeom>
          <a:noFill/>
        </p:spPr>
        <p:txBody>
          <a:bodyPr wrap="square">
            <a:spAutoFit/>
          </a:bodyPr>
          <a:lstStyle/>
          <a:p>
            <a:pPr algn="l"/>
            <a:r>
              <a:rPr sz="3600" b="1" i="0">
                <a:solidFill>
                  <a:srgbClr val="FFFFFF"/>
                </a:solidFill>
              </a:rPr>
              <a:t>Résultats &amp; Discussion</a:t>
            </a:r>
          </a:p>
        </p:txBody>
      </p:sp>
      <p:sp>
        <p:nvSpPr>
          <p:cNvPr id="6" name="TextBox 5"/>
          <p:cNvSpPr txBox="1"/>
          <p:nvPr/>
        </p:nvSpPr>
        <p:spPr>
          <a:xfrm>
            <a:off x="2011680" y="3337560"/>
            <a:ext cx="9601200" cy="640080"/>
          </a:xfrm>
          <a:prstGeom prst="rect">
            <a:avLst/>
          </a:prstGeom>
          <a:noFill/>
        </p:spPr>
        <p:txBody>
          <a:bodyPr wrap="square">
            <a:spAutoFit/>
          </a:bodyPr>
          <a:lstStyle/>
          <a:p>
            <a:pPr algn="l"/>
            <a:r>
              <a:rPr sz="1600" b="0" i="1">
                <a:solidFill>
                  <a:srgbClr val="CAE9FF"/>
                </a:solidFill>
              </a:rPr>
              <a:t>Tableau comparatif · ROC · Matrices de confusion · Feature importance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Résultats — Comparaison Complète des Modèles</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Évaluation sur l'ensemble de validation (2 140 échantillons)</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005840"/>
            <a:ext cx="237744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 y="1042416"/>
            <a:ext cx="2322576" cy="365760"/>
          </a:xfrm>
          <a:prstGeom prst="rect">
            <a:avLst/>
          </a:prstGeom>
          <a:noFill/>
        </p:spPr>
        <p:txBody>
          <a:bodyPr wrap="square">
            <a:spAutoFit/>
          </a:bodyPr>
          <a:lstStyle/>
          <a:p>
            <a:pPr algn="ctr"/>
            <a:r>
              <a:rPr sz="1100" b="1" i="0">
                <a:solidFill>
                  <a:srgbClr val="0D1B2A"/>
                </a:solidFill>
              </a:rPr>
              <a:t>Modèle</a:t>
            </a:r>
          </a:p>
        </p:txBody>
      </p:sp>
      <p:sp>
        <p:nvSpPr>
          <p:cNvPr id="10" name="Rectangle 9"/>
          <p:cNvSpPr/>
          <p:nvPr/>
        </p:nvSpPr>
        <p:spPr>
          <a:xfrm>
            <a:off x="2697480" y="1005840"/>
            <a:ext cx="91440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34056" y="1042416"/>
            <a:ext cx="859536" cy="365760"/>
          </a:xfrm>
          <a:prstGeom prst="rect">
            <a:avLst/>
          </a:prstGeom>
          <a:noFill/>
        </p:spPr>
        <p:txBody>
          <a:bodyPr wrap="square">
            <a:spAutoFit/>
          </a:bodyPr>
          <a:lstStyle/>
          <a:p>
            <a:pPr algn="ctr"/>
            <a:r>
              <a:rPr sz="1100" b="1" i="0">
                <a:solidFill>
                  <a:srgbClr val="0D1B2A"/>
                </a:solidFill>
              </a:rPr>
              <a:t>Accuracy</a:t>
            </a:r>
          </a:p>
        </p:txBody>
      </p:sp>
      <p:sp>
        <p:nvSpPr>
          <p:cNvPr id="12" name="Rectangle 11"/>
          <p:cNvSpPr/>
          <p:nvPr/>
        </p:nvSpPr>
        <p:spPr>
          <a:xfrm>
            <a:off x="3611880" y="1005840"/>
            <a:ext cx="77724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48456" y="1042416"/>
            <a:ext cx="722376" cy="365760"/>
          </a:xfrm>
          <a:prstGeom prst="rect">
            <a:avLst/>
          </a:prstGeom>
          <a:noFill/>
        </p:spPr>
        <p:txBody>
          <a:bodyPr wrap="square">
            <a:spAutoFit/>
          </a:bodyPr>
          <a:lstStyle/>
          <a:p>
            <a:pPr algn="ctr"/>
            <a:r>
              <a:rPr sz="1100" b="1" i="0">
                <a:solidFill>
                  <a:srgbClr val="0D1B2A"/>
                </a:solidFill>
              </a:rPr>
              <a:t>F1</a:t>
            </a:r>
          </a:p>
        </p:txBody>
      </p:sp>
      <p:sp>
        <p:nvSpPr>
          <p:cNvPr id="14" name="Rectangle 13"/>
          <p:cNvSpPr/>
          <p:nvPr/>
        </p:nvSpPr>
        <p:spPr>
          <a:xfrm>
            <a:off x="4389120" y="1005840"/>
            <a:ext cx="77724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1042416"/>
            <a:ext cx="722376" cy="365760"/>
          </a:xfrm>
          <a:prstGeom prst="rect">
            <a:avLst/>
          </a:prstGeom>
          <a:noFill/>
        </p:spPr>
        <p:txBody>
          <a:bodyPr wrap="square">
            <a:spAutoFit/>
          </a:bodyPr>
          <a:lstStyle/>
          <a:p>
            <a:pPr algn="ctr"/>
            <a:r>
              <a:rPr sz="1100" b="1" i="0">
                <a:solidFill>
                  <a:srgbClr val="0D1B2A"/>
                </a:solidFill>
              </a:rPr>
              <a:t>MCC</a:t>
            </a:r>
          </a:p>
        </p:txBody>
      </p:sp>
      <p:sp>
        <p:nvSpPr>
          <p:cNvPr id="16" name="Rectangle 15"/>
          <p:cNvSpPr/>
          <p:nvPr/>
        </p:nvSpPr>
        <p:spPr>
          <a:xfrm>
            <a:off x="5166360" y="1005840"/>
            <a:ext cx="86868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2936" y="1042416"/>
            <a:ext cx="813816" cy="365760"/>
          </a:xfrm>
          <a:prstGeom prst="rect">
            <a:avLst/>
          </a:prstGeom>
          <a:noFill/>
        </p:spPr>
        <p:txBody>
          <a:bodyPr wrap="square">
            <a:spAutoFit/>
          </a:bodyPr>
          <a:lstStyle/>
          <a:p>
            <a:pPr algn="ctr"/>
            <a:r>
              <a:rPr sz="1100" b="1" i="0">
                <a:solidFill>
                  <a:srgbClr val="0D1B2A"/>
                </a:solidFill>
              </a:rPr>
              <a:t>AUC-ROC</a:t>
            </a:r>
          </a:p>
        </p:txBody>
      </p:sp>
      <p:sp>
        <p:nvSpPr>
          <p:cNvPr id="18" name="Rectangle 17"/>
          <p:cNvSpPr/>
          <p:nvPr/>
        </p:nvSpPr>
        <p:spPr>
          <a:xfrm>
            <a:off x="320040" y="1371600"/>
            <a:ext cx="237744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 y="1408176"/>
            <a:ext cx="2340864" cy="365760"/>
          </a:xfrm>
          <a:prstGeom prst="rect">
            <a:avLst/>
          </a:prstGeom>
          <a:noFill/>
        </p:spPr>
        <p:txBody>
          <a:bodyPr wrap="square">
            <a:spAutoFit/>
          </a:bodyPr>
          <a:lstStyle/>
          <a:p>
            <a:pPr algn="ctr"/>
            <a:r>
              <a:rPr sz="1100" b="1" i="0">
                <a:solidFill>
                  <a:srgbClr val="06D6A0"/>
                </a:solidFill>
              </a:rPr>
              <a:t>SVM + TF-IDF ★</a:t>
            </a:r>
          </a:p>
        </p:txBody>
      </p:sp>
      <p:sp>
        <p:nvSpPr>
          <p:cNvPr id="20" name="Rectangle 19"/>
          <p:cNvSpPr/>
          <p:nvPr/>
        </p:nvSpPr>
        <p:spPr>
          <a:xfrm>
            <a:off x="2697480" y="1371600"/>
            <a:ext cx="91440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24912" y="1408176"/>
            <a:ext cx="877824" cy="365760"/>
          </a:xfrm>
          <a:prstGeom prst="rect">
            <a:avLst/>
          </a:prstGeom>
          <a:noFill/>
        </p:spPr>
        <p:txBody>
          <a:bodyPr wrap="square">
            <a:spAutoFit/>
          </a:bodyPr>
          <a:lstStyle/>
          <a:p>
            <a:pPr algn="ctr"/>
            <a:r>
              <a:rPr sz="1100" b="1" i="0">
                <a:solidFill>
                  <a:srgbClr val="06D6A0"/>
                </a:solidFill>
              </a:rPr>
              <a:t>93,9 %</a:t>
            </a:r>
          </a:p>
        </p:txBody>
      </p:sp>
      <p:sp>
        <p:nvSpPr>
          <p:cNvPr id="22" name="Rectangle 21"/>
          <p:cNvSpPr/>
          <p:nvPr/>
        </p:nvSpPr>
        <p:spPr>
          <a:xfrm>
            <a:off x="3611880" y="1371600"/>
            <a:ext cx="77724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9312" y="1408176"/>
            <a:ext cx="740664" cy="365760"/>
          </a:xfrm>
          <a:prstGeom prst="rect">
            <a:avLst/>
          </a:prstGeom>
          <a:noFill/>
        </p:spPr>
        <p:txBody>
          <a:bodyPr wrap="square">
            <a:spAutoFit/>
          </a:bodyPr>
          <a:lstStyle/>
          <a:p>
            <a:pPr algn="ctr"/>
            <a:r>
              <a:rPr sz="1100" b="1" i="0">
                <a:solidFill>
                  <a:srgbClr val="06D6A0"/>
                </a:solidFill>
              </a:rPr>
              <a:t>0,939</a:t>
            </a:r>
          </a:p>
        </p:txBody>
      </p:sp>
      <p:sp>
        <p:nvSpPr>
          <p:cNvPr id="24" name="Rectangle 23"/>
          <p:cNvSpPr/>
          <p:nvPr/>
        </p:nvSpPr>
        <p:spPr>
          <a:xfrm>
            <a:off x="4389120" y="1371600"/>
            <a:ext cx="77724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16552" y="1408176"/>
            <a:ext cx="740664" cy="365760"/>
          </a:xfrm>
          <a:prstGeom prst="rect">
            <a:avLst/>
          </a:prstGeom>
          <a:noFill/>
        </p:spPr>
        <p:txBody>
          <a:bodyPr wrap="square">
            <a:spAutoFit/>
          </a:bodyPr>
          <a:lstStyle/>
          <a:p>
            <a:pPr algn="ctr"/>
            <a:r>
              <a:rPr sz="1100" b="1" i="0">
                <a:solidFill>
                  <a:srgbClr val="06D6A0"/>
                </a:solidFill>
              </a:rPr>
              <a:t>0,877</a:t>
            </a:r>
          </a:p>
        </p:txBody>
      </p:sp>
      <p:sp>
        <p:nvSpPr>
          <p:cNvPr id="26" name="Rectangle 25"/>
          <p:cNvSpPr/>
          <p:nvPr/>
        </p:nvSpPr>
        <p:spPr>
          <a:xfrm>
            <a:off x="5166360" y="1371600"/>
            <a:ext cx="86868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93792" y="1408176"/>
            <a:ext cx="832104" cy="365760"/>
          </a:xfrm>
          <a:prstGeom prst="rect">
            <a:avLst/>
          </a:prstGeom>
          <a:noFill/>
        </p:spPr>
        <p:txBody>
          <a:bodyPr wrap="square">
            <a:spAutoFit/>
          </a:bodyPr>
          <a:lstStyle/>
          <a:p>
            <a:pPr algn="ctr"/>
            <a:r>
              <a:rPr sz="1100" b="1" i="0">
                <a:solidFill>
                  <a:srgbClr val="06D6A0"/>
                </a:solidFill>
              </a:rPr>
              <a:t>—</a:t>
            </a:r>
          </a:p>
        </p:txBody>
      </p:sp>
      <p:sp>
        <p:nvSpPr>
          <p:cNvPr id="28" name="Rectangle 27"/>
          <p:cNvSpPr/>
          <p:nvPr/>
        </p:nvSpPr>
        <p:spPr>
          <a:xfrm>
            <a:off x="320040" y="1737360"/>
            <a:ext cx="2377440" cy="365760"/>
          </a:xfrm>
          <a:prstGeom prst="rect">
            <a:avLst/>
          </a:prstGeom>
          <a:solidFill>
            <a:srgbClr val="1E2A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1773936"/>
            <a:ext cx="2340864" cy="365760"/>
          </a:xfrm>
          <a:prstGeom prst="rect">
            <a:avLst/>
          </a:prstGeom>
          <a:noFill/>
        </p:spPr>
        <p:txBody>
          <a:bodyPr wrap="square">
            <a:spAutoFit/>
          </a:bodyPr>
          <a:lstStyle/>
          <a:p>
            <a:pPr algn="ctr"/>
            <a:r>
              <a:rPr sz="1100" b="0" i="0">
                <a:solidFill>
                  <a:srgbClr val="CAE9FF"/>
                </a:solidFill>
              </a:rPr>
              <a:t>DistilBERT</a:t>
            </a:r>
          </a:p>
        </p:txBody>
      </p:sp>
      <p:sp>
        <p:nvSpPr>
          <p:cNvPr id="30" name="Rectangle 29"/>
          <p:cNvSpPr/>
          <p:nvPr/>
        </p:nvSpPr>
        <p:spPr>
          <a:xfrm>
            <a:off x="2697480" y="1737360"/>
            <a:ext cx="914400" cy="365760"/>
          </a:xfrm>
          <a:prstGeom prst="rect">
            <a:avLst/>
          </a:prstGeom>
          <a:solidFill>
            <a:srgbClr val="1E2A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24912" y="1773936"/>
            <a:ext cx="877824" cy="365760"/>
          </a:xfrm>
          <a:prstGeom prst="rect">
            <a:avLst/>
          </a:prstGeom>
          <a:noFill/>
        </p:spPr>
        <p:txBody>
          <a:bodyPr wrap="square">
            <a:spAutoFit/>
          </a:bodyPr>
          <a:lstStyle/>
          <a:p>
            <a:pPr algn="ctr"/>
            <a:r>
              <a:rPr sz="1100" b="0" i="0">
                <a:solidFill>
                  <a:srgbClr val="CAE9FF"/>
                </a:solidFill>
              </a:rPr>
              <a:t>92,9 %</a:t>
            </a:r>
          </a:p>
        </p:txBody>
      </p:sp>
      <p:sp>
        <p:nvSpPr>
          <p:cNvPr id="32" name="Rectangle 31"/>
          <p:cNvSpPr/>
          <p:nvPr/>
        </p:nvSpPr>
        <p:spPr>
          <a:xfrm>
            <a:off x="3611880" y="1737360"/>
            <a:ext cx="777240" cy="365760"/>
          </a:xfrm>
          <a:prstGeom prst="rect">
            <a:avLst/>
          </a:prstGeom>
          <a:solidFill>
            <a:srgbClr val="1E2A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39312" y="1773936"/>
            <a:ext cx="740664" cy="365760"/>
          </a:xfrm>
          <a:prstGeom prst="rect">
            <a:avLst/>
          </a:prstGeom>
          <a:noFill/>
        </p:spPr>
        <p:txBody>
          <a:bodyPr wrap="square">
            <a:spAutoFit/>
          </a:bodyPr>
          <a:lstStyle/>
          <a:p>
            <a:pPr algn="ctr"/>
            <a:r>
              <a:rPr sz="1100" b="0" i="0">
                <a:solidFill>
                  <a:srgbClr val="CAE9FF"/>
                </a:solidFill>
              </a:rPr>
              <a:t>0,928</a:t>
            </a:r>
          </a:p>
        </p:txBody>
      </p:sp>
      <p:sp>
        <p:nvSpPr>
          <p:cNvPr id="34" name="Rectangle 33"/>
          <p:cNvSpPr/>
          <p:nvPr/>
        </p:nvSpPr>
        <p:spPr>
          <a:xfrm>
            <a:off x="4389120" y="1737360"/>
            <a:ext cx="777240" cy="365760"/>
          </a:xfrm>
          <a:prstGeom prst="rect">
            <a:avLst/>
          </a:prstGeom>
          <a:solidFill>
            <a:srgbClr val="1E2A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16552" y="1773936"/>
            <a:ext cx="740664" cy="365760"/>
          </a:xfrm>
          <a:prstGeom prst="rect">
            <a:avLst/>
          </a:prstGeom>
          <a:noFill/>
        </p:spPr>
        <p:txBody>
          <a:bodyPr wrap="square">
            <a:spAutoFit/>
          </a:bodyPr>
          <a:lstStyle/>
          <a:p>
            <a:pPr algn="ctr"/>
            <a:r>
              <a:rPr sz="1100" b="0" i="0">
                <a:solidFill>
                  <a:srgbClr val="CAE9FF"/>
                </a:solidFill>
              </a:rPr>
              <a:t>0,857</a:t>
            </a:r>
          </a:p>
        </p:txBody>
      </p:sp>
      <p:sp>
        <p:nvSpPr>
          <p:cNvPr id="36" name="Rectangle 35"/>
          <p:cNvSpPr/>
          <p:nvPr/>
        </p:nvSpPr>
        <p:spPr>
          <a:xfrm>
            <a:off x="5166360" y="1737360"/>
            <a:ext cx="868680" cy="365760"/>
          </a:xfrm>
          <a:prstGeom prst="rect">
            <a:avLst/>
          </a:prstGeom>
          <a:solidFill>
            <a:srgbClr val="1E2A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93792" y="1773936"/>
            <a:ext cx="832104" cy="365760"/>
          </a:xfrm>
          <a:prstGeom prst="rect">
            <a:avLst/>
          </a:prstGeom>
          <a:noFill/>
        </p:spPr>
        <p:txBody>
          <a:bodyPr wrap="square">
            <a:spAutoFit/>
          </a:bodyPr>
          <a:lstStyle/>
          <a:p>
            <a:pPr algn="ctr"/>
            <a:r>
              <a:rPr sz="1100" b="0" i="0">
                <a:solidFill>
                  <a:srgbClr val="CAE9FF"/>
                </a:solidFill>
              </a:rPr>
              <a:t>0,976</a:t>
            </a:r>
          </a:p>
        </p:txBody>
      </p:sp>
      <p:sp>
        <p:nvSpPr>
          <p:cNvPr id="38" name="Rectangle 37"/>
          <p:cNvSpPr/>
          <p:nvPr/>
        </p:nvSpPr>
        <p:spPr>
          <a:xfrm>
            <a:off x="320040" y="2103120"/>
            <a:ext cx="237744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7472" y="2139696"/>
            <a:ext cx="2340864" cy="365760"/>
          </a:xfrm>
          <a:prstGeom prst="rect">
            <a:avLst/>
          </a:prstGeom>
          <a:noFill/>
        </p:spPr>
        <p:txBody>
          <a:bodyPr wrap="square">
            <a:spAutoFit/>
          </a:bodyPr>
          <a:lstStyle/>
          <a:p>
            <a:pPr algn="ctr"/>
            <a:r>
              <a:rPr sz="1100" b="0" i="0">
                <a:solidFill>
                  <a:srgbClr val="CAE9FF"/>
                </a:solidFill>
              </a:rPr>
              <a:t>Log. Regression</a:t>
            </a:r>
          </a:p>
        </p:txBody>
      </p:sp>
      <p:sp>
        <p:nvSpPr>
          <p:cNvPr id="40" name="Rectangle 39"/>
          <p:cNvSpPr/>
          <p:nvPr/>
        </p:nvSpPr>
        <p:spPr>
          <a:xfrm>
            <a:off x="2697480" y="2103120"/>
            <a:ext cx="91440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24912" y="2139696"/>
            <a:ext cx="877824" cy="365760"/>
          </a:xfrm>
          <a:prstGeom prst="rect">
            <a:avLst/>
          </a:prstGeom>
          <a:noFill/>
        </p:spPr>
        <p:txBody>
          <a:bodyPr wrap="square">
            <a:spAutoFit/>
          </a:bodyPr>
          <a:lstStyle/>
          <a:p>
            <a:pPr algn="ctr"/>
            <a:r>
              <a:rPr sz="1100" b="0" i="0">
                <a:solidFill>
                  <a:srgbClr val="CAE9FF"/>
                </a:solidFill>
              </a:rPr>
              <a:t>92,6 %</a:t>
            </a:r>
          </a:p>
        </p:txBody>
      </p:sp>
      <p:sp>
        <p:nvSpPr>
          <p:cNvPr id="42" name="Rectangle 41"/>
          <p:cNvSpPr/>
          <p:nvPr/>
        </p:nvSpPr>
        <p:spPr>
          <a:xfrm>
            <a:off x="3611880" y="2103120"/>
            <a:ext cx="77724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39312" y="2139696"/>
            <a:ext cx="740664" cy="365760"/>
          </a:xfrm>
          <a:prstGeom prst="rect">
            <a:avLst/>
          </a:prstGeom>
          <a:noFill/>
        </p:spPr>
        <p:txBody>
          <a:bodyPr wrap="square">
            <a:spAutoFit/>
          </a:bodyPr>
          <a:lstStyle/>
          <a:p>
            <a:pPr algn="ctr"/>
            <a:r>
              <a:rPr sz="1100" b="0" i="0">
                <a:solidFill>
                  <a:srgbClr val="CAE9FF"/>
                </a:solidFill>
              </a:rPr>
              <a:t>0,926</a:t>
            </a:r>
          </a:p>
        </p:txBody>
      </p:sp>
      <p:sp>
        <p:nvSpPr>
          <p:cNvPr id="44" name="Rectangle 43"/>
          <p:cNvSpPr/>
          <p:nvPr/>
        </p:nvSpPr>
        <p:spPr>
          <a:xfrm>
            <a:off x="4389120" y="2103120"/>
            <a:ext cx="77724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16552" y="2139696"/>
            <a:ext cx="740664" cy="365760"/>
          </a:xfrm>
          <a:prstGeom prst="rect">
            <a:avLst/>
          </a:prstGeom>
          <a:noFill/>
        </p:spPr>
        <p:txBody>
          <a:bodyPr wrap="square">
            <a:spAutoFit/>
          </a:bodyPr>
          <a:lstStyle/>
          <a:p>
            <a:pPr algn="ctr"/>
            <a:r>
              <a:rPr sz="1100" b="0" i="0">
                <a:solidFill>
                  <a:srgbClr val="CAE9FF"/>
                </a:solidFill>
              </a:rPr>
              <a:t>0,852</a:t>
            </a:r>
          </a:p>
        </p:txBody>
      </p:sp>
      <p:sp>
        <p:nvSpPr>
          <p:cNvPr id="46" name="Rectangle 45"/>
          <p:cNvSpPr/>
          <p:nvPr/>
        </p:nvSpPr>
        <p:spPr>
          <a:xfrm>
            <a:off x="5166360" y="2103120"/>
            <a:ext cx="86868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93792" y="2139696"/>
            <a:ext cx="832104" cy="365760"/>
          </a:xfrm>
          <a:prstGeom prst="rect">
            <a:avLst/>
          </a:prstGeom>
          <a:noFill/>
        </p:spPr>
        <p:txBody>
          <a:bodyPr wrap="square">
            <a:spAutoFit/>
          </a:bodyPr>
          <a:lstStyle/>
          <a:p>
            <a:pPr algn="ctr"/>
            <a:r>
              <a:rPr sz="1100" b="0" i="0">
                <a:solidFill>
                  <a:srgbClr val="CAE9FF"/>
                </a:solidFill>
              </a:rPr>
              <a:t>0,976</a:t>
            </a:r>
          </a:p>
        </p:txBody>
      </p:sp>
      <p:sp>
        <p:nvSpPr>
          <p:cNvPr id="48" name="Rectangle 47"/>
          <p:cNvSpPr/>
          <p:nvPr/>
        </p:nvSpPr>
        <p:spPr>
          <a:xfrm>
            <a:off x="320040" y="2468880"/>
            <a:ext cx="2377440" cy="365760"/>
          </a:xfrm>
          <a:prstGeom prst="rect">
            <a:avLst/>
          </a:prstGeom>
          <a:solidFill>
            <a:srgbClr val="1E2A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472" y="2505456"/>
            <a:ext cx="2340864" cy="365760"/>
          </a:xfrm>
          <a:prstGeom prst="rect">
            <a:avLst/>
          </a:prstGeom>
          <a:noFill/>
        </p:spPr>
        <p:txBody>
          <a:bodyPr wrap="square">
            <a:spAutoFit/>
          </a:bodyPr>
          <a:lstStyle/>
          <a:p>
            <a:pPr algn="ctr"/>
            <a:r>
              <a:rPr sz="1100" b="0" i="0">
                <a:solidFill>
                  <a:srgbClr val="CAE9FF"/>
                </a:solidFill>
              </a:rPr>
              <a:t>XGBoost</a:t>
            </a:r>
          </a:p>
        </p:txBody>
      </p:sp>
      <p:sp>
        <p:nvSpPr>
          <p:cNvPr id="50" name="Rectangle 49"/>
          <p:cNvSpPr/>
          <p:nvPr/>
        </p:nvSpPr>
        <p:spPr>
          <a:xfrm>
            <a:off x="2697480" y="2468880"/>
            <a:ext cx="914400" cy="365760"/>
          </a:xfrm>
          <a:prstGeom prst="rect">
            <a:avLst/>
          </a:prstGeom>
          <a:solidFill>
            <a:srgbClr val="1E2A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24912" y="2505456"/>
            <a:ext cx="877824" cy="365760"/>
          </a:xfrm>
          <a:prstGeom prst="rect">
            <a:avLst/>
          </a:prstGeom>
          <a:noFill/>
        </p:spPr>
        <p:txBody>
          <a:bodyPr wrap="square">
            <a:spAutoFit/>
          </a:bodyPr>
          <a:lstStyle/>
          <a:p>
            <a:pPr algn="ctr"/>
            <a:r>
              <a:rPr sz="1100" b="0" i="0">
                <a:solidFill>
                  <a:srgbClr val="CAE9FF"/>
                </a:solidFill>
              </a:rPr>
              <a:t>90,4 %</a:t>
            </a:r>
          </a:p>
        </p:txBody>
      </p:sp>
      <p:sp>
        <p:nvSpPr>
          <p:cNvPr id="52" name="Rectangle 51"/>
          <p:cNvSpPr/>
          <p:nvPr/>
        </p:nvSpPr>
        <p:spPr>
          <a:xfrm>
            <a:off x="3611880" y="2468880"/>
            <a:ext cx="777240" cy="365760"/>
          </a:xfrm>
          <a:prstGeom prst="rect">
            <a:avLst/>
          </a:prstGeom>
          <a:solidFill>
            <a:srgbClr val="1E2A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39312" y="2505456"/>
            <a:ext cx="740664" cy="365760"/>
          </a:xfrm>
          <a:prstGeom prst="rect">
            <a:avLst/>
          </a:prstGeom>
          <a:noFill/>
        </p:spPr>
        <p:txBody>
          <a:bodyPr wrap="square">
            <a:spAutoFit/>
          </a:bodyPr>
          <a:lstStyle/>
          <a:p>
            <a:pPr algn="ctr"/>
            <a:r>
              <a:rPr sz="1100" b="0" i="0">
                <a:solidFill>
                  <a:srgbClr val="CAE9FF"/>
                </a:solidFill>
              </a:rPr>
              <a:t>0,904</a:t>
            </a:r>
          </a:p>
        </p:txBody>
      </p:sp>
      <p:sp>
        <p:nvSpPr>
          <p:cNvPr id="54" name="Rectangle 53"/>
          <p:cNvSpPr/>
          <p:nvPr/>
        </p:nvSpPr>
        <p:spPr>
          <a:xfrm>
            <a:off x="4389120" y="2468880"/>
            <a:ext cx="777240" cy="365760"/>
          </a:xfrm>
          <a:prstGeom prst="rect">
            <a:avLst/>
          </a:prstGeom>
          <a:solidFill>
            <a:srgbClr val="1E2A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416552" y="2505456"/>
            <a:ext cx="740664" cy="365760"/>
          </a:xfrm>
          <a:prstGeom prst="rect">
            <a:avLst/>
          </a:prstGeom>
          <a:noFill/>
        </p:spPr>
        <p:txBody>
          <a:bodyPr wrap="square">
            <a:spAutoFit/>
          </a:bodyPr>
          <a:lstStyle/>
          <a:p>
            <a:pPr algn="ctr"/>
            <a:r>
              <a:rPr sz="1100" b="0" i="0">
                <a:solidFill>
                  <a:srgbClr val="CAE9FF"/>
                </a:solidFill>
              </a:rPr>
              <a:t>0,810</a:t>
            </a:r>
          </a:p>
        </p:txBody>
      </p:sp>
      <p:sp>
        <p:nvSpPr>
          <p:cNvPr id="56" name="Rectangle 55"/>
          <p:cNvSpPr/>
          <p:nvPr/>
        </p:nvSpPr>
        <p:spPr>
          <a:xfrm>
            <a:off x="5166360" y="2468880"/>
            <a:ext cx="868680" cy="365760"/>
          </a:xfrm>
          <a:prstGeom prst="rect">
            <a:avLst/>
          </a:prstGeom>
          <a:solidFill>
            <a:srgbClr val="1E2A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193792" y="2505456"/>
            <a:ext cx="832104" cy="365760"/>
          </a:xfrm>
          <a:prstGeom prst="rect">
            <a:avLst/>
          </a:prstGeom>
          <a:noFill/>
        </p:spPr>
        <p:txBody>
          <a:bodyPr wrap="square">
            <a:spAutoFit/>
          </a:bodyPr>
          <a:lstStyle/>
          <a:p>
            <a:pPr algn="ctr"/>
            <a:r>
              <a:rPr sz="1100" b="0" i="0">
                <a:solidFill>
                  <a:srgbClr val="CAE9FF"/>
                </a:solidFill>
              </a:rPr>
              <a:t>0,968</a:t>
            </a:r>
          </a:p>
        </p:txBody>
      </p:sp>
      <p:sp>
        <p:nvSpPr>
          <p:cNvPr id="58" name="Rectangle 57"/>
          <p:cNvSpPr/>
          <p:nvPr/>
        </p:nvSpPr>
        <p:spPr>
          <a:xfrm>
            <a:off x="320040" y="2834640"/>
            <a:ext cx="237744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2871216"/>
            <a:ext cx="2340864" cy="365760"/>
          </a:xfrm>
          <a:prstGeom prst="rect">
            <a:avLst/>
          </a:prstGeom>
          <a:noFill/>
        </p:spPr>
        <p:txBody>
          <a:bodyPr wrap="square">
            <a:spAutoFit/>
          </a:bodyPr>
          <a:lstStyle/>
          <a:p>
            <a:pPr algn="ctr"/>
            <a:r>
              <a:rPr sz="1100" b="0" i="0">
                <a:solidFill>
                  <a:srgbClr val="CAE9FF"/>
                </a:solidFill>
              </a:rPr>
              <a:t>Random Forest</a:t>
            </a:r>
          </a:p>
        </p:txBody>
      </p:sp>
      <p:sp>
        <p:nvSpPr>
          <p:cNvPr id="60" name="Rectangle 59"/>
          <p:cNvSpPr/>
          <p:nvPr/>
        </p:nvSpPr>
        <p:spPr>
          <a:xfrm>
            <a:off x="2697480" y="2834640"/>
            <a:ext cx="91440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24912" y="2871216"/>
            <a:ext cx="877824" cy="365760"/>
          </a:xfrm>
          <a:prstGeom prst="rect">
            <a:avLst/>
          </a:prstGeom>
          <a:noFill/>
        </p:spPr>
        <p:txBody>
          <a:bodyPr wrap="square">
            <a:spAutoFit/>
          </a:bodyPr>
          <a:lstStyle/>
          <a:p>
            <a:pPr algn="ctr"/>
            <a:r>
              <a:rPr sz="1100" b="0" i="0">
                <a:solidFill>
                  <a:srgbClr val="CAE9FF"/>
                </a:solidFill>
              </a:rPr>
              <a:t>90,1 %</a:t>
            </a:r>
          </a:p>
        </p:txBody>
      </p:sp>
      <p:sp>
        <p:nvSpPr>
          <p:cNvPr id="62" name="Rectangle 61"/>
          <p:cNvSpPr/>
          <p:nvPr/>
        </p:nvSpPr>
        <p:spPr>
          <a:xfrm>
            <a:off x="3611880" y="2834640"/>
            <a:ext cx="77724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639312" y="2871216"/>
            <a:ext cx="740664" cy="365760"/>
          </a:xfrm>
          <a:prstGeom prst="rect">
            <a:avLst/>
          </a:prstGeom>
          <a:noFill/>
        </p:spPr>
        <p:txBody>
          <a:bodyPr wrap="square">
            <a:spAutoFit/>
          </a:bodyPr>
          <a:lstStyle/>
          <a:p>
            <a:pPr algn="ctr"/>
            <a:r>
              <a:rPr sz="1100" b="0" i="0">
                <a:solidFill>
                  <a:srgbClr val="CAE9FF"/>
                </a:solidFill>
              </a:rPr>
              <a:t>0,901</a:t>
            </a:r>
          </a:p>
        </p:txBody>
      </p:sp>
      <p:sp>
        <p:nvSpPr>
          <p:cNvPr id="64" name="Rectangle 63"/>
          <p:cNvSpPr/>
          <p:nvPr/>
        </p:nvSpPr>
        <p:spPr>
          <a:xfrm>
            <a:off x="4389120" y="2834640"/>
            <a:ext cx="77724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416552" y="2871216"/>
            <a:ext cx="740664" cy="365760"/>
          </a:xfrm>
          <a:prstGeom prst="rect">
            <a:avLst/>
          </a:prstGeom>
          <a:noFill/>
        </p:spPr>
        <p:txBody>
          <a:bodyPr wrap="square">
            <a:spAutoFit/>
          </a:bodyPr>
          <a:lstStyle/>
          <a:p>
            <a:pPr algn="ctr"/>
            <a:r>
              <a:rPr sz="1100" b="0" i="0">
                <a:solidFill>
                  <a:srgbClr val="CAE9FF"/>
                </a:solidFill>
              </a:rPr>
              <a:t>0,803</a:t>
            </a:r>
          </a:p>
        </p:txBody>
      </p:sp>
      <p:sp>
        <p:nvSpPr>
          <p:cNvPr id="66" name="Rectangle 65"/>
          <p:cNvSpPr/>
          <p:nvPr/>
        </p:nvSpPr>
        <p:spPr>
          <a:xfrm>
            <a:off x="5166360" y="2834640"/>
            <a:ext cx="868680" cy="365760"/>
          </a:xfrm>
          <a:prstGeom prst="rect">
            <a:avLst/>
          </a:prstGeom>
          <a:solidFill>
            <a:srgbClr val="15283A"/>
          </a:solidFill>
          <a:ln>
            <a:solidFill>
              <a:srgbClr val="2A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193792" y="2871216"/>
            <a:ext cx="832104" cy="365760"/>
          </a:xfrm>
          <a:prstGeom prst="rect">
            <a:avLst/>
          </a:prstGeom>
          <a:noFill/>
        </p:spPr>
        <p:txBody>
          <a:bodyPr wrap="square">
            <a:spAutoFit/>
          </a:bodyPr>
          <a:lstStyle/>
          <a:p>
            <a:pPr algn="ctr"/>
            <a:r>
              <a:rPr sz="1100" b="0" i="0">
                <a:solidFill>
                  <a:srgbClr val="CAE9FF"/>
                </a:solidFill>
              </a:rPr>
              <a:t>0,969</a:t>
            </a:r>
          </a:p>
        </p:txBody>
      </p:sp>
      <p:sp>
        <p:nvSpPr>
          <p:cNvPr id="68" name="TextBox 67"/>
          <p:cNvSpPr txBox="1"/>
          <p:nvPr/>
        </p:nvSpPr>
        <p:spPr>
          <a:xfrm>
            <a:off x="320040" y="3337560"/>
            <a:ext cx="11521440" cy="347472"/>
          </a:xfrm>
          <a:prstGeom prst="rect">
            <a:avLst/>
          </a:prstGeom>
          <a:noFill/>
        </p:spPr>
        <p:txBody>
          <a:bodyPr wrap="square">
            <a:spAutoFit/>
          </a:bodyPr>
          <a:lstStyle/>
          <a:p>
            <a:pPr algn="l"/>
            <a:r>
              <a:rPr sz="1100" b="0" i="1">
                <a:solidFill>
                  <a:srgbClr val="06D6A0"/>
                </a:solidFill>
              </a:rPr>
              <a:t>★ SVM + TF-IDF : meilleur modèle  |  DistilBERT et LR égaux en AUC-ROC (0,976)</a:t>
            </a:r>
          </a:p>
        </p:txBody>
      </p:sp>
      <p:pic>
        <p:nvPicPr>
          <p:cNvPr id="69" name="Picture 68" descr="07_baseline_comparison.png"/>
          <p:cNvPicPr>
            <a:picLocks noChangeAspect="1"/>
          </p:cNvPicPr>
          <p:nvPr/>
        </p:nvPicPr>
        <p:blipFill>
          <a:blip r:embed="rId2"/>
          <a:stretch>
            <a:fillRect/>
          </a:stretch>
        </p:blipFill>
        <p:spPr>
          <a:xfrm>
            <a:off x="320040" y="3749039"/>
            <a:ext cx="5943600" cy="2926080"/>
          </a:xfrm>
          <a:prstGeom prst="rect">
            <a:avLst/>
          </a:prstGeom>
        </p:spPr>
      </p:pic>
      <p:pic>
        <p:nvPicPr>
          <p:cNvPr id="70" name="Picture 69" descr="final_results_heatmap.png"/>
          <p:cNvPicPr>
            <a:picLocks noChangeAspect="1"/>
          </p:cNvPicPr>
          <p:nvPr/>
        </p:nvPicPr>
        <p:blipFill>
          <a:blip r:embed="rId3"/>
          <a:stretch>
            <a:fillRect/>
          </a:stretch>
        </p:blipFill>
        <p:spPr>
          <a:xfrm>
            <a:off x="6400800" y="3749039"/>
            <a:ext cx="5669280" cy="29260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Courbes ROC &amp; Matrices de Confusion</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AUC-ROC : Logistic Regression = DistilBERT = 0,976</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oc_curves.png"/>
          <p:cNvPicPr>
            <a:picLocks noChangeAspect="1"/>
          </p:cNvPicPr>
          <p:nvPr/>
        </p:nvPicPr>
        <p:blipFill>
          <a:blip r:embed="rId2"/>
          <a:stretch>
            <a:fillRect/>
          </a:stretch>
        </p:blipFill>
        <p:spPr>
          <a:xfrm>
            <a:off x="320040" y="1005840"/>
            <a:ext cx="5577840" cy="3108960"/>
          </a:xfrm>
          <a:prstGeom prst="rect">
            <a:avLst/>
          </a:prstGeom>
        </p:spPr>
      </p:pic>
      <p:pic>
        <p:nvPicPr>
          <p:cNvPr id="9" name="Picture 8" descr="06_confusion_matrices_baselines.png"/>
          <p:cNvPicPr>
            <a:picLocks noChangeAspect="1"/>
          </p:cNvPicPr>
          <p:nvPr/>
        </p:nvPicPr>
        <p:blipFill>
          <a:blip r:embed="rId3"/>
          <a:stretch>
            <a:fillRect/>
          </a:stretch>
        </p:blipFill>
        <p:spPr>
          <a:xfrm>
            <a:off x="6126480" y="1005840"/>
            <a:ext cx="5852160" cy="3108960"/>
          </a:xfrm>
          <a:prstGeom prst="rect">
            <a:avLst/>
          </a:prstGeom>
        </p:spPr>
      </p:pic>
      <p:sp>
        <p:nvSpPr>
          <p:cNvPr id="10" name="TextBox 9"/>
          <p:cNvSpPr txBox="1"/>
          <p:nvPr/>
        </p:nvSpPr>
        <p:spPr>
          <a:xfrm>
            <a:off x="320040" y="4251960"/>
            <a:ext cx="11521440" cy="347472"/>
          </a:xfrm>
          <a:prstGeom prst="rect">
            <a:avLst/>
          </a:prstGeom>
          <a:noFill/>
        </p:spPr>
        <p:txBody>
          <a:bodyPr wrap="square">
            <a:spAutoFit/>
          </a:bodyPr>
          <a:lstStyle/>
          <a:p>
            <a:pPr algn="l"/>
            <a:r>
              <a:rPr sz="1300" b="1" i="0">
                <a:solidFill>
                  <a:srgbClr val="00B4D8"/>
                </a:solidFill>
              </a:rPr>
              <a:t>Observations</a:t>
            </a:r>
          </a:p>
        </p:txBody>
      </p:sp>
      <p:sp>
        <p:nvSpPr>
          <p:cNvPr id="11" name="TextBox 10"/>
          <p:cNvSpPr txBox="1"/>
          <p:nvPr/>
        </p:nvSpPr>
        <p:spPr>
          <a:xfrm>
            <a:off x="320040" y="4663440"/>
            <a:ext cx="11521440" cy="420624"/>
          </a:xfrm>
          <a:prstGeom prst="rect">
            <a:avLst/>
          </a:prstGeom>
          <a:noFill/>
        </p:spPr>
        <p:txBody>
          <a:bodyPr wrap="square">
            <a:spAutoFit/>
          </a:bodyPr>
          <a:lstStyle/>
          <a:p>
            <a:pPr algn="l"/>
            <a:r>
              <a:rPr sz="1150" b="0" i="0">
                <a:solidFill>
                  <a:srgbClr val="CAE9FF"/>
                </a:solidFill>
              </a:rPr>
              <a:t>• SVM atteint 93,9 % d'accuracy mais ne produit pas de probabilités → pas de courbe ROC directe</a:t>
            </a:r>
          </a:p>
        </p:txBody>
      </p:sp>
      <p:sp>
        <p:nvSpPr>
          <p:cNvPr id="12" name="TextBox 11"/>
          <p:cNvSpPr txBox="1"/>
          <p:nvPr/>
        </p:nvSpPr>
        <p:spPr>
          <a:xfrm>
            <a:off x="320040" y="5120640"/>
            <a:ext cx="11521440" cy="420624"/>
          </a:xfrm>
          <a:prstGeom prst="rect">
            <a:avLst/>
          </a:prstGeom>
          <a:noFill/>
        </p:spPr>
        <p:txBody>
          <a:bodyPr wrap="square">
            <a:spAutoFit/>
          </a:bodyPr>
          <a:lstStyle/>
          <a:p>
            <a:pPr algn="l"/>
            <a:r>
              <a:rPr sz="1150" b="0" i="0">
                <a:solidFill>
                  <a:srgbClr val="CAE9FF"/>
                </a:solidFill>
              </a:rPr>
              <a:t>• LR et DistilBERT ont des AUC-ROC identiques (0,976) → capacité discriminante équivalente</a:t>
            </a:r>
          </a:p>
        </p:txBody>
      </p:sp>
      <p:sp>
        <p:nvSpPr>
          <p:cNvPr id="13" name="TextBox 12"/>
          <p:cNvSpPr txBox="1"/>
          <p:nvPr/>
        </p:nvSpPr>
        <p:spPr>
          <a:xfrm>
            <a:off x="320040" y="5577840"/>
            <a:ext cx="11521440" cy="420624"/>
          </a:xfrm>
          <a:prstGeom prst="rect">
            <a:avLst/>
          </a:prstGeom>
          <a:noFill/>
        </p:spPr>
        <p:txBody>
          <a:bodyPr wrap="square">
            <a:spAutoFit/>
          </a:bodyPr>
          <a:lstStyle/>
          <a:p>
            <a:pPr algn="l"/>
            <a:r>
              <a:rPr sz="1150" b="0" i="0">
                <a:solidFill>
                  <a:srgbClr val="CAE9FF"/>
                </a:solidFill>
              </a:rPr>
              <a:t>• DistilBERT : 72 faux positifs vs 81 faux négatifs — asymétrie importante en santé publique</a:t>
            </a:r>
          </a:p>
        </p:txBody>
      </p:sp>
      <p:sp>
        <p:nvSpPr>
          <p:cNvPr id="14" name="TextBox 13"/>
          <p:cNvSpPr txBox="1"/>
          <p:nvPr/>
        </p:nvSpPr>
        <p:spPr>
          <a:xfrm>
            <a:off x="320040" y="6035040"/>
            <a:ext cx="11521440" cy="420624"/>
          </a:xfrm>
          <a:prstGeom prst="rect">
            <a:avLst/>
          </a:prstGeom>
          <a:noFill/>
        </p:spPr>
        <p:txBody>
          <a:bodyPr wrap="square">
            <a:spAutoFit/>
          </a:bodyPr>
          <a:lstStyle/>
          <a:p>
            <a:pPr algn="l"/>
            <a:r>
              <a:rPr sz="1150" b="0" i="0">
                <a:solidFill>
                  <a:srgbClr val="CAE9FF"/>
                </a:solidFill>
              </a:rPr>
              <a:t>• Les 4 modèles classiques dépassent 90 % d'accuracy → baselines très compétitifs sur ce corpus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Analyse de l'Importance des Features</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Coefficients TF-IDF de la Régression Logistique — quels mots distinguent REAL de FAKE ?</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9_feature_importance_lr.png"/>
          <p:cNvPicPr>
            <a:picLocks noChangeAspect="1"/>
          </p:cNvPicPr>
          <p:nvPr/>
        </p:nvPicPr>
        <p:blipFill>
          <a:blip r:embed="rId2"/>
          <a:stretch>
            <a:fillRect/>
          </a:stretch>
        </p:blipFill>
        <p:spPr>
          <a:xfrm>
            <a:off x="320040" y="1005840"/>
            <a:ext cx="7132320" cy="4572000"/>
          </a:xfrm>
          <a:prstGeom prst="rect">
            <a:avLst/>
          </a:prstGeom>
        </p:spPr>
      </p:pic>
      <p:sp>
        <p:nvSpPr>
          <p:cNvPr id="9" name="TextBox 8"/>
          <p:cNvSpPr txBox="1"/>
          <p:nvPr/>
        </p:nvSpPr>
        <p:spPr>
          <a:xfrm>
            <a:off x="7589520" y="1005840"/>
            <a:ext cx="4389120" cy="4572000"/>
          </a:xfrm>
          <a:prstGeom prst="rect">
            <a:avLst/>
          </a:prstGeom>
          <a:noFill/>
        </p:spPr>
        <p:txBody>
          <a:bodyPr wrap="square">
            <a:spAutoFit/>
          </a:bodyPr>
          <a:lstStyle/>
          <a:p>
            <a:pPr>
              <a:spcBef>
                <a:spcPts val="400"/>
              </a:spcBef>
            </a:pPr>
            <a:r>
              <a:rPr b="1" sz="1150">
                <a:solidFill>
                  <a:srgbClr val="00B4D8"/>
                </a:solidFill>
              </a:rPr>
              <a:t>• Prédicteurs de REAL :</a:t>
            </a:r>
            <a:r>
              <a:rPr sz="1100">
                <a:solidFill>
                  <a:srgbClr val="CAE9FF"/>
                </a:solidFill>
              </a:rPr>
              <a:t>  'covid19' (hashtags officiels), 'cases', 'testing', 'data', 'reported' → registre institutionnel factuel</a:t>
            </a:r>
          </a:p>
          <a:p>
            <a:pPr>
              <a:spcBef>
                <a:spcPts val="400"/>
              </a:spcBef>
            </a:pPr>
            <a:r>
              <a:rPr b="1" sz="1150">
                <a:solidFill>
                  <a:srgbClr val="00B4D8"/>
                </a:solidFill>
              </a:rPr>
              <a:t>• Prédicteurs de FAKE :</a:t>
            </a:r>
            <a:r>
              <a:rPr sz="1100">
                <a:solidFill>
                  <a:srgbClr val="CAE9FF"/>
                </a:solidFill>
              </a:rPr>
              <a:t>  'trump', 'cure', 'claim', 'video', 'china', 'died' → contenu politisé et alarmiste</a:t>
            </a:r>
          </a:p>
          <a:p>
            <a:pPr>
              <a:spcBef>
                <a:spcPts val="400"/>
              </a:spcBef>
            </a:pPr>
            <a:r>
              <a:rPr b="1" sz="1150">
                <a:solidFill>
                  <a:srgbClr val="00B4D8"/>
                </a:solidFill>
              </a:rPr>
              <a:t>• Observation :</a:t>
            </a:r>
            <a:r>
              <a:rPr sz="1100">
                <a:solidFill>
                  <a:srgbClr val="CAE9FF"/>
                </a:solidFill>
              </a:rPr>
              <a:t>  Le mot 'trump' est un fort prédicteur de fake — politisation marquée du discours COVID-19</a:t>
            </a:r>
          </a:p>
          <a:p>
            <a:pPr>
              <a:spcBef>
                <a:spcPts val="400"/>
              </a:spcBef>
            </a:pPr>
            <a:r>
              <a:rPr b="1" sz="1150">
                <a:solidFill>
                  <a:srgbClr val="00B4D8"/>
                </a:solidFill>
              </a:rPr>
              <a:t>• Attention :</a:t>
            </a:r>
            <a:r>
              <a:rPr sz="1100">
                <a:solidFill>
                  <a:srgbClr val="CAE9FF"/>
                </a:solidFill>
              </a:rPr>
              <a:t>  Ces associations reflètent des biais du corpus, pas des vérités universelles</a:t>
            </a:r>
          </a:p>
        </p:txBody>
      </p:sp>
      <p:pic>
        <p:nvPicPr>
          <p:cNvPr id="10" name="Picture 9" descr="03_wordclouds.png"/>
          <p:cNvPicPr>
            <a:picLocks noChangeAspect="1"/>
          </p:cNvPicPr>
          <p:nvPr/>
        </p:nvPicPr>
        <p:blipFill>
          <a:blip r:embed="rId3"/>
          <a:stretch>
            <a:fillRect/>
          </a:stretch>
        </p:blipFill>
        <p:spPr>
          <a:xfrm>
            <a:off x="320040" y="5669280"/>
            <a:ext cx="11521440" cy="10515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286000"/>
            <a:ext cx="1280160"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280160" cy="1188720"/>
          </a:xfrm>
          <a:prstGeom prst="rect">
            <a:avLst/>
          </a:prstGeom>
          <a:noFill/>
        </p:spPr>
        <p:txBody>
          <a:bodyPr wrap="square">
            <a:spAutoFit/>
          </a:bodyPr>
          <a:lstStyle/>
          <a:p>
            <a:pPr algn="ctr"/>
            <a:r>
              <a:rPr sz="4400" b="1" i="0">
                <a:solidFill>
                  <a:srgbClr val="0D1B2A"/>
                </a:solidFill>
              </a:rPr>
              <a:t>06</a:t>
            </a:r>
          </a:p>
        </p:txBody>
      </p:sp>
      <p:sp>
        <p:nvSpPr>
          <p:cNvPr id="5" name="TextBox 4"/>
          <p:cNvSpPr txBox="1"/>
          <p:nvPr/>
        </p:nvSpPr>
        <p:spPr>
          <a:xfrm>
            <a:off x="2011680" y="2286000"/>
            <a:ext cx="9601200" cy="1005840"/>
          </a:xfrm>
          <a:prstGeom prst="rect">
            <a:avLst/>
          </a:prstGeom>
          <a:noFill/>
        </p:spPr>
        <p:txBody>
          <a:bodyPr wrap="square">
            <a:spAutoFit/>
          </a:bodyPr>
          <a:lstStyle/>
          <a:p>
            <a:pPr algn="l"/>
            <a:r>
              <a:rPr sz="3600" b="1" i="0">
                <a:solidFill>
                  <a:srgbClr val="FFFFFF"/>
                </a:solidFill>
              </a:rPr>
              <a:t>Explicabilité des Modèles (XAI)</a:t>
            </a:r>
          </a:p>
        </p:txBody>
      </p:sp>
      <p:sp>
        <p:nvSpPr>
          <p:cNvPr id="6" name="TextBox 5"/>
          <p:cNvSpPr txBox="1"/>
          <p:nvPr/>
        </p:nvSpPr>
        <p:spPr>
          <a:xfrm>
            <a:off x="2011680" y="3337560"/>
            <a:ext cx="9601200" cy="640080"/>
          </a:xfrm>
          <a:prstGeom prst="rect">
            <a:avLst/>
          </a:prstGeom>
          <a:noFill/>
        </p:spPr>
        <p:txBody>
          <a:bodyPr wrap="square">
            <a:spAutoFit/>
          </a:bodyPr>
          <a:lstStyle/>
          <a:p>
            <a:pPr algn="l"/>
            <a:r>
              <a:rPr sz="1600" b="0" i="1">
                <a:solidFill>
                  <a:srgbClr val="CAE9FF"/>
                </a:solidFill>
              </a:rPr>
              <a:t>LIME · Visualisation de l'attention · Analyse des biais · Considérations éthiques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Explicabilité — LIME (Local Interpretable Model-agnostic Explanations)</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Ribeiro et al., KDD 2016 — Approximation linéaire locale de la frontière de décision</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005840"/>
            <a:ext cx="5029200" cy="539496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097280"/>
            <a:ext cx="4846320" cy="365760"/>
          </a:xfrm>
          <a:prstGeom prst="rect">
            <a:avLst/>
          </a:prstGeom>
          <a:noFill/>
        </p:spPr>
        <p:txBody>
          <a:bodyPr wrap="square">
            <a:spAutoFit/>
          </a:bodyPr>
          <a:lstStyle/>
          <a:p>
            <a:pPr algn="l"/>
            <a:r>
              <a:rPr sz="1300" b="1" i="0">
                <a:solidFill>
                  <a:srgbClr val="00B4D8"/>
                </a:solidFill>
              </a:rPr>
              <a:t>Comment fonctionne LIME ?</a:t>
            </a:r>
          </a:p>
        </p:txBody>
      </p:sp>
      <p:sp>
        <p:nvSpPr>
          <p:cNvPr id="10" name="TextBox 9"/>
          <p:cNvSpPr txBox="1"/>
          <p:nvPr/>
        </p:nvSpPr>
        <p:spPr>
          <a:xfrm>
            <a:off x="411480" y="1554480"/>
            <a:ext cx="4846320" cy="475488"/>
          </a:xfrm>
          <a:prstGeom prst="rect">
            <a:avLst/>
          </a:prstGeom>
          <a:noFill/>
        </p:spPr>
        <p:txBody>
          <a:bodyPr wrap="square">
            <a:spAutoFit/>
          </a:bodyPr>
          <a:lstStyle/>
          <a:p>
            <a:pPr algn="l"/>
            <a:r>
              <a:rPr sz="1150" b="0" i="0">
                <a:solidFill>
                  <a:srgbClr val="CAE9FF"/>
                </a:solidFill>
              </a:rPr>
              <a:t>1. Sélectionner un texte à expliquer</a:t>
            </a:r>
          </a:p>
        </p:txBody>
      </p:sp>
      <p:sp>
        <p:nvSpPr>
          <p:cNvPr id="11" name="TextBox 10"/>
          <p:cNvSpPr txBox="1"/>
          <p:nvPr/>
        </p:nvSpPr>
        <p:spPr>
          <a:xfrm>
            <a:off x="411480" y="2066544"/>
            <a:ext cx="4846320" cy="475488"/>
          </a:xfrm>
          <a:prstGeom prst="rect">
            <a:avLst/>
          </a:prstGeom>
          <a:noFill/>
        </p:spPr>
        <p:txBody>
          <a:bodyPr wrap="square">
            <a:spAutoFit/>
          </a:bodyPr>
          <a:lstStyle/>
          <a:p>
            <a:pPr algn="l"/>
            <a:r>
              <a:rPr sz="1150" b="0" i="0">
                <a:solidFill>
                  <a:srgbClr val="CAE9FF"/>
                </a:solidFill>
              </a:rPr>
              <a:t>2. Générer 500 perturbations locales en masquant des mots aléatoirement</a:t>
            </a:r>
          </a:p>
        </p:txBody>
      </p:sp>
      <p:sp>
        <p:nvSpPr>
          <p:cNvPr id="12" name="TextBox 11"/>
          <p:cNvSpPr txBox="1"/>
          <p:nvPr/>
        </p:nvSpPr>
        <p:spPr>
          <a:xfrm>
            <a:off x="411480" y="2578608"/>
            <a:ext cx="4846320" cy="475488"/>
          </a:xfrm>
          <a:prstGeom prst="rect">
            <a:avLst/>
          </a:prstGeom>
          <a:noFill/>
        </p:spPr>
        <p:txBody>
          <a:bodyPr wrap="square">
            <a:spAutoFit/>
          </a:bodyPr>
          <a:lstStyle/>
          <a:p>
            <a:pPr algn="l"/>
            <a:r>
              <a:rPr sz="1150" b="0" i="0">
                <a:solidFill>
                  <a:srgbClr val="CAE9FF"/>
                </a:solidFill>
              </a:rPr>
              <a:t>3. Observer les changements de probabilités prédites</a:t>
            </a:r>
          </a:p>
        </p:txBody>
      </p:sp>
      <p:sp>
        <p:nvSpPr>
          <p:cNvPr id="13" name="TextBox 12"/>
          <p:cNvSpPr txBox="1"/>
          <p:nvPr/>
        </p:nvSpPr>
        <p:spPr>
          <a:xfrm>
            <a:off x="411480" y="3090672"/>
            <a:ext cx="4846320" cy="475488"/>
          </a:xfrm>
          <a:prstGeom prst="rect">
            <a:avLst/>
          </a:prstGeom>
          <a:noFill/>
        </p:spPr>
        <p:txBody>
          <a:bodyPr wrap="square">
            <a:spAutoFit/>
          </a:bodyPr>
          <a:lstStyle/>
          <a:p>
            <a:pPr algn="l"/>
            <a:r>
              <a:rPr sz="1150" b="0" i="0">
                <a:solidFill>
                  <a:srgbClr val="CAE9FF"/>
                </a:solidFill>
              </a:rPr>
              <a:t>4. Ajuster un modèle linéaire sparse sur ces perturbations</a:t>
            </a:r>
          </a:p>
        </p:txBody>
      </p:sp>
      <p:sp>
        <p:nvSpPr>
          <p:cNvPr id="14" name="TextBox 13"/>
          <p:cNvSpPr txBox="1"/>
          <p:nvPr/>
        </p:nvSpPr>
        <p:spPr>
          <a:xfrm>
            <a:off x="411480" y="3602736"/>
            <a:ext cx="4846320" cy="475488"/>
          </a:xfrm>
          <a:prstGeom prst="rect">
            <a:avLst/>
          </a:prstGeom>
          <a:noFill/>
        </p:spPr>
        <p:txBody>
          <a:bodyPr wrap="square">
            <a:spAutoFit/>
          </a:bodyPr>
          <a:lstStyle/>
          <a:p>
            <a:pPr algn="l"/>
            <a:r>
              <a:rPr sz="1150" b="0" i="0">
                <a:solidFill>
                  <a:srgbClr val="CAE9FF"/>
                </a:solidFill>
              </a:rPr>
              <a:t>5. Afficher les 10 mots les plus influents avec leur poids</a:t>
            </a:r>
          </a:p>
        </p:txBody>
      </p:sp>
      <p:sp>
        <p:nvSpPr>
          <p:cNvPr id="15" name="TextBox 14"/>
          <p:cNvSpPr txBox="1"/>
          <p:nvPr/>
        </p:nvSpPr>
        <p:spPr>
          <a:xfrm>
            <a:off x="411480" y="4114800"/>
            <a:ext cx="4846320" cy="475488"/>
          </a:xfrm>
          <a:prstGeom prst="rect">
            <a:avLst/>
          </a:prstGeom>
          <a:noFill/>
        </p:spPr>
        <p:txBody>
          <a:bodyPr wrap="square">
            <a:spAutoFit/>
          </a:bodyPr>
          <a:lstStyle/>
          <a:p>
            <a:pPr algn="l"/>
            <a:r>
              <a:rPr sz="1150" b="0" i="0">
                <a:solidFill>
                  <a:srgbClr val="CAE9FF"/>
                </a:solidFill>
              </a:rPr>
              <a:t/>
            </a:r>
          </a:p>
        </p:txBody>
      </p:sp>
      <p:sp>
        <p:nvSpPr>
          <p:cNvPr id="16" name="TextBox 15"/>
          <p:cNvSpPr txBox="1"/>
          <p:nvPr/>
        </p:nvSpPr>
        <p:spPr>
          <a:xfrm>
            <a:off x="411480" y="4626864"/>
            <a:ext cx="4846320" cy="475488"/>
          </a:xfrm>
          <a:prstGeom prst="rect">
            <a:avLst/>
          </a:prstGeom>
          <a:noFill/>
        </p:spPr>
        <p:txBody>
          <a:bodyPr wrap="square">
            <a:spAutoFit/>
          </a:bodyPr>
          <a:lstStyle/>
          <a:p>
            <a:pPr algn="l"/>
            <a:r>
              <a:rPr sz="1150" b="1" i="0">
                <a:solidFill>
                  <a:srgbClr val="FF6B6B"/>
                </a:solidFill>
              </a:rPr>
              <a:t>Rouge → pousse vers FAKE</a:t>
            </a:r>
          </a:p>
        </p:txBody>
      </p:sp>
      <p:sp>
        <p:nvSpPr>
          <p:cNvPr id="17" name="TextBox 16"/>
          <p:cNvSpPr txBox="1"/>
          <p:nvPr/>
        </p:nvSpPr>
        <p:spPr>
          <a:xfrm>
            <a:off x="411480" y="5138928"/>
            <a:ext cx="4846320" cy="475488"/>
          </a:xfrm>
          <a:prstGeom prst="rect">
            <a:avLst/>
          </a:prstGeom>
          <a:noFill/>
        </p:spPr>
        <p:txBody>
          <a:bodyPr wrap="square">
            <a:spAutoFit/>
          </a:bodyPr>
          <a:lstStyle/>
          <a:p>
            <a:pPr algn="l"/>
            <a:r>
              <a:rPr sz="1150" b="1" i="0">
                <a:solidFill>
                  <a:srgbClr val="06D6A0"/>
                </a:solidFill>
              </a:rPr>
              <a:t>Vert → pousse vers REAL</a:t>
            </a:r>
          </a:p>
        </p:txBody>
      </p:sp>
      <p:pic>
        <p:nvPicPr>
          <p:cNvPr id="18" name="Picture 17" descr="lime_fake_1.png"/>
          <p:cNvPicPr>
            <a:picLocks noChangeAspect="1"/>
          </p:cNvPicPr>
          <p:nvPr/>
        </p:nvPicPr>
        <p:blipFill>
          <a:blip r:embed="rId2"/>
          <a:stretch>
            <a:fillRect/>
          </a:stretch>
        </p:blipFill>
        <p:spPr>
          <a:xfrm>
            <a:off x="5577840" y="1005840"/>
            <a:ext cx="6400800" cy="2651760"/>
          </a:xfrm>
          <a:prstGeom prst="rect">
            <a:avLst/>
          </a:prstGeom>
        </p:spPr>
      </p:pic>
      <p:pic>
        <p:nvPicPr>
          <p:cNvPr id="19" name="Picture 18" descr="lime_real_1.png"/>
          <p:cNvPicPr>
            <a:picLocks noChangeAspect="1"/>
          </p:cNvPicPr>
          <p:nvPr/>
        </p:nvPicPr>
        <p:blipFill>
          <a:blip r:embed="rId3"/>
          <a:stretch>
            <a:fillRect/>
          </a:stretch>
        </p:blipFill>
        <p:spPr>
          <a:xfrm>
            <a:off x="5577840" y="3794760"/>
            <a:ext cx="6400800" cy="260604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Attention DistilBERT &amp; Analyse des Biais</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Visualisation des poids d'attention + tests de sensibilité aux termes biaisés</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7_attention_visualization.png"/>
          <p:cNvPicPr>
            <a:picLocks noChangeAspect="1"/>
          </p:cNvPicPr>
          <p:nvPr/>
        </p:nvPicPr>
        <p:blipFill>
          <a:blip r:embed="rId2"/>
          <a:stretch>
            <a:fillRect/>
          </a:stretch>
        </p:blipFill>
        <p:spPr>
          <a:xfrm>
            <a:off x="320040" y="1005840"/>
            <a:ext cx="6858000" cy="2743200"/>
          </a:xfrm>
          <a:prstGeom prst="rect">
            <a:avLst/>
          </a:prstGeom>
        </p:spPr>
      </p:pic>
      <p:pic>
        <p:nvPicPr>
          <p:cNvPr id="9" name="Picture 8" descr="bias_analysis.png"/>
          <p:cNvPicPr>
            <a:picLocks noChangeAspect="1"/>
          </p:cNvPicPr>
          <p:nvPr/>
        </p:nvPicPr>
        <p:blipFill>
          <a:blip r:embed="rId3"/>
          <a:stretch>
            <a:fillRect/>
          </a:stretch>
        </p:blipFill>
        <p:spPr>
          <a:xfrm>
            <a:off x="7315200" y="1005840"/>
            <a:ext cx="4663440" cy="2743200"/>
          </a:xfrm>
          <a:prstGeom prst="rect">
            <a:avLst/>
          </a:prstGeom>
        </p:spPr>
      </p:pic>
      <p:sp>
        <p:nvSpPr>
          <p:cNvPr id="10" name="TextBox 9"/>
          <p:cNvSpPr txBox="1"/>
          <p:nvPr/>
        </p:nvSpPr>
        <p:spPr>
          <a:xfrm>
            <a:off x="320040" y="3886200"/>
            <a:ext cx="11521440" cy="347472"/>
          </a:xfrm>
          <a:prstGeom prst="rect">
            <a:avLst/>
          </a:prstGeom>
          <a:noFill/>
        </p:spPr>
        <p:txBody>
          <a:bodyPr wrap="square">
            <a:spAutoFit/>
          </a:bodyPr>
          <a:lstStyle/>
          <a:p>
            <a:pPr algn="l"/>
            <a:r>
              <a:rPr sz="1300" b="1" i="0">
                <a:solidFill>
                  <a:srgbClr val="00B4D8"/>
                </a:solidFill>
              </a:rPr>
              <a:t>Résultats de l'analyse des biais</a:t>
            </a:r>
          </a:p>
        </p:txBody>
      </p:sp>
      <p:sp>
        <p:nvSpPr>
          <p:cNvPr id="11" name="TextBox 10"/>
          <p:cNvSpPr txBox="1"/>
          <p:nvPr/>
        </p:nvSpPr>
        <p:spPr>
          <a:xfrm>
            <a:off x="320040" y="4297680"/>
            <a:ext cx="11521440" cy="402336"/>
          </a:xfrm>
          <a:prstGeom prst="rect">
            <a:avLst/>
          </a:prstGeom>
          <a:noFill/>
        </p:spPr>
        <p:txBody>
          <a:bodyPr wrap="square">
            <a:spAutoFit/>
          </a:bodyPr>
          <a:lstStyle/>
          <a:p>
            <a:pPr algn="l"/>
            <a:r>
              <a:rPr sz="1150" b="0" i="0">
                <a:solidFill>
                  <a:srgbClr val="CAE9FF"/>
                </a:solidFill>
              </a:rPr>
              <a:t>• Attention (REAL) : distribution diffuse sur mots informatifs (données, annonce, gouvernement)</a:t>
            </a:r>
          </a:p>
        </p:txBody>
      </p:sp>
      <p:sp>
        <p:nvSpPr>
          <p:cNvPr id="12" name="TextBox 11"/>
          <p:cNvSpPr txBox="1"/>
          <p:nvPr/>
        </p:nvSpPr>
        <p:spPr>
          <a:xfrm>
            <a:off x="320040" y="4736592"/>
            <a:ext cx="11521440" cy="402336"/>
          </a:xfrm>
          <a:prstGeom prst="rect">
            <a:avLst/>
          </a:prstGeom>
          <a:noFill/>
        </p:spPr>
        <p:txBody>
          <a:bodyPr wrap="square">
            <a:spAutoFit/>
          </a:bodyPr>
          <a:lstStyle/>
          <a:p>
            <a:pPr algn="l"/>
            <a:r>
              <a:rPr sz="1150" b="0" i="0">
                <a:solidFill>
                  <a:srgbClr val="CAE9FF"/>
                </a:solidFill>
              </a:rPr>
              <a:t>• Attention (FAKE) : concentration sur termes culturellement chargés (géographiques, ethniques)</a:t>
            </a:r>
          </a:p>
        </p:txBody>
      </p:sp>
      <p:sp>
        <p:nvSpPr>
          <p:cNvPr id="13" name="TextBox 12"/>
          <p:cNvSpPr txBox="1"/>
          <p:nvPr/>
        </p:nvSpPr>
        <p:spPr>
          <a:xfrm>
            <a:off x="320040" y="5175504"/>
            <a:ext cx="11521440" cy="402336"/>
          </a:xfrm>
          <a:prstGeom prst="rect">
            <a:avLst/>
          </a:prstGeom>
          <a:noFill/>
        </p:spPr>
        <p:txBody>
          <a:bodyPr wrap="square">
            <a:spAutoFit/>
          </a:bodyPr>
          <a:lstStyle/>
          <a:p>
            <a:pPr algn="l"/>
            <a:r>
              <a:rPr sz="1150" b="0" i="0">
                <a:solidFill>
                  <a:srgbClr val="CAE9FF"/>
                </a:solidFill>
              </a:rPr>
              <a:t>• Test de biais : ajouter 'china developed' au texte neutre → augmentation de +4 % de P(fake)</a:t>
            </a:r>
          </a:p>
        </p:txBody>
      </p:sp>
      <p:sp>
        <p:nvSpPr>
          <p:cNvPr id="14" name="TextBox 13"/>
          <p:cNvSpPr txBox="1"/>
          <p:nvPr/>
        </p:nvSpPr>
        <p:spPr>
          <a:xfrm>
            <a:off x="320040" y="5614416"/>
            <a:ext cx="11521440" cy="402336"/>
          </a:xfrm>
          <a:prstGeom prst="rect">
            <a:avLst/>
          </a:prstGeom>
          <a:noFill/>
        </p:spPr>
        <p:txBody>
          <a:bodyPr wrap="square">
            <a:spAutoFit/>
          </a:bodyPr>
          <a:lstStyle/>
          <a:p>
            <a:pPr algn="l"/>
            <a:r>
              <a:rPr sz="1150" b="0" i="0">
                <a:solidFill>
                  <a:srgbClr val="CAE9FF"/>
                </a:solidFill>
              </a:rPr>
              <a:t>• Implication : le modèle a appris des associations ethniques/géopolitiques du corpus d'entraînement</a:t>
            </a:r>
          </a:p>
        </p:txBody>
      </p:sp>
      <p:sp>
        <p:nvSpPr>
          <p:cNvPr id="15" name="TextBox 14"/>
          <p:cNvSpPr txBox="1"/>
          <p:nvPr/>
        </p:nvSpPr>
        <p:spPr>
          <a:xfrm>
            <a:off x="320040" y="6053328"/>
            <a:ext cx="11521440" cy="402336"/>
          </a:xfrm>
          <a:prstGeom prst="rect">
            <a:avLst/>
          </a:prstGeom>
          <a:noFill/>
        </p:spPr>
        <p:txBody>
          <a:bodyPr wrap="square">
            <a:spAutoFit/>
          </a:bodyPr>
          <a:lstStyle/>
          <a:p>
            <a:pPr algn="l"/>
            <a:r>
              <a:rPr sz="1150" b="0" i="0">
                <a:solidFill>
                  <a:srgbClr val="FF6B6B"/>
                </a:solidFill>
              </a:rPr>
              <a:t>• ⚠ Risque : déployer ce modèle sans correction pourrait amplifier des discriminations systémiques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Analyse des Erreurs — Facteurs de Difficulté</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Quels textes résistent à la classification automatique ?</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nfidence_analysis.png"/>
          <p:cNvPicPr>
            <a:picLocks noChangeAspect="1"/>
          </p:cNvPicPr>
          <p:nvPr/>
        </p:nvPicPr>
        <p:blipFill>
          <a:blip r:embed="rId2"/>
          <a:stretch>
            <a:fillRect/>
          </a:stretch>
        </p:blipFill>
        <p:spPr>
          <a:xfrm>
            <a:off x="320040" y="1005840"/>
            <a:ext cx="5760720" cy="3200400"/>
          </a:xfrm>
          <a:prstGeom prst="rect">
            <a:avLst/>
          </a:prstGeom>
        </p:spPr>
      </p:pic>
      <p:sp>
        <p:nvSpPr>
          <p:cNvPr id="9" name="Rectangle 8"/>
          <p:cNvSpPr/>
          <p:nvPr/>
        </p:nvSpPr>
        <p:spPr>
          <a:xfrm>
            <a:off x="6217920" y="1005840"/>
            <a:ext cx="5669280" cy="320040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097280"/>
            <a:ext cx="5303520" cy="365760"/>
          </a:xfrm>
          <a:prstGeom prst="rect">
            <a:avLst/>
          </a:prstGeom>
          <a:noFill/>
        </p:spPr>
        <p:txBody>
          <a:bodyPr wrap="square">
            <a:spAutoFit/>
          </a:bodyPr>
          <a:lstStyle/>
          <a:p>
            <a:pPr algn="l"/>
            <a:r>
              <a:rPr sz="1300" b="1" i="0">
                <a:solidFill>
                  <a:srgbClr val="00B4D8"/>
                </a:solidFill>
              </a:rPr>
              <a:t>Distribution de confiance</a:t>
            </a:r>
          </a:p>
        </p:txBody>
      </p:sp>
      <p:sp>
        <p:nvSpPr>
          <p:cNvPr id="11" name="TextBox 10"/>
          <p:cNvSpPr txBox="1"/>
          <p:nvPr/>
        </p:nvSpPr>
        <p:spPr>
          <a:xfrm>
            <a:off x="6400800" y="1554480"/>
            <a:ext cx="5303520" cy="731520"/>
          </a:xfrm>
          <a:prstGeom prst="rect">
            <a:avLst/>
          </a:prstGeom>
          <a:noFill/>
        </p:spPr>
        <p:txBody>
          <a:bodyPr wrap="square">
            <a:spAutoFit/>
          </a:bodyPr>
          <a:lstStyle/>
          <a:p>
            <a:pPr algn="l"/>
            <a:r>
              <a:rPr sz="1100" b="0" i="0">
                <a:solidFill>
                  <a:srgbClr val="CAE9FF"/>
                </a:solidFill>
              </a:rPr>
              <a:t>• Pattern fortement bimodal : la plupart des prédictions sont faites avec très haute confiance (P &gt; 0,90)</a:t>
            </a:r>
          </a:p>
        </p:txBody>
      </p:sp>
      <p:sp>
        <p:nvSpPr>
          <p:cNvPr id="12" name="TextBox 11"/>
          <p:cNvSpPr txBox="1"/>
          <p:nvPr/>
        </p:nvSpPr>
        <p:spPr>
          <a:xfrm>
            <a:off x="6400800" y="2331720"/>
            <a:ext cx="5303520" cy="731520"/>
          </a:xfrm>
          <a:prstGeom prst="rect">
            <a:avLst/>
          </a:prstGeom>
          <a:noFill/>
        </p:spPr>
        <p:txBody>
          <a:bodyPr wrap="square">
            <a:spAutoFit/>
          </a:bodyPr>
          <a:lstStyle/>
          <a:p>
            <a:pPr algn="l"/>
            <a:r>
              <a:rPr sz="1100" b="0" i="0">
                <a:solidFill>
                  <a:srgbClr val="CAE9FF"/>
                </a:solidFill>
              </a:rPr>
              <a:t>• Les prédictions incorrectes sont plus uniformément distribuées à des valeurs de confiance intermédiaires</a:t>
            </a:r>
          </a:p>
        </p:txBody>
      </p:sp>
      <p:sp>
        <p:nvSpPr>
          <p:cNvPr id="13" name="TextBox 12"/>
          <p:cNvSpPr txBox="1"/>
          <p:nvPr/>
        </p:nvSpPr>
        <p:spPr>
          <a:xfrm>
            <a:off x="6400800" y="3108960"/>
            <a:ext cx="5303520" cy="731520"/>
          </a:xfrm>
          <a:prstGeom prst="rect">
            <a:avLst/>
          </a:prstGeom>
          <a:noFill/>
        </p:spPr>
        <p:txBody>
          <a:bodyPr wrap="square">
            <a:spAutoFit/>
          </a:bodyPr>
          <a:lstStyle/>
          <a:p>
            <a:pPr algn="l"/>
            <a:r>
              <a:rPr sz="1100" b="0" i="0">
                <a:solidFill>
                  <a:srgbClr val="CAE9FF"/>
                </a:solidFill>
              </a:rPr>
              <a:t>• → L'incertitude du modèle est dans une certaine mesure calibrée : il doute sur les cas vraiment ambigus</a:t>
            </a:r>
          </a:p>
        </p:txBody>
      </p:sp>
      <p:sp>
        <p:nvSpPr>
          <p:cNvPr id="14" name="TextBox 13"/>
          <p:cNvSpPr txBox="1"/>
          <p:nvPr/>
        </p:nvSpPr>
        <p:spPr>
          <a:xfrm>
            <a:off x="320040" y="4343400"/>
            <a:ext cx="11521440" cy="365760"/>
          </a:xfrm>
          <a:prstGeom prst="rect">
            <a:avLst/>
          </a:prstGeom>
          <a:noFill/>
        </p:spPr>
        <p:txBody>
          <a:bodyPr wrap="square">
            <a:spAutoFit/>
          </a:bodyPr>
          <a:lstStyle/>
          <a:p>
            <a:pPr algn="l"/>
            <a:r>
              <a:rPr sz="1300" b="1" i="0">
                <a:solidFill>
                  <a:srgbClr val="00B4D8"/>
                </a:solidFill>
              </a:rPr>
              <a:t>Taux d'erreur vs longueur du texte</a:t>
            </a:r>
          </a:p>
        </p:txBody>
      </p:sp>
      <p:sp>
        <p:nvSpPr>
          <p:cNvPr id="15" name="Rectangle 14"/>
          <p:cNvSpPr/>
          <p:nvPr/>
        </p:nvSpPr>
        <p:spPr>
          <a:xfrm>
            <a:off x="320040" y="4800600"/>
            <a:ext cx="2743200" cy="548640"/>
          </a:xfrm>
          <a:prstGeom prst="rect">
            <a:avLst/>
          </a:prstGeom>
          <a:solidFill>
            <a:srgbClr val="15283A"/>
          </a:solidFill>
          <a:ln>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4828032"/>
            <a:ext cx="2743200" cy="274320"/>
          </a:xfrm>
          <a:prstGeom prst="rect">
            <a:avLst/>
          </a:prstGeom>
          <a:noFill/>
        </p:spPr>
        <p:txBody>
          <a:bodyPr wrap="square">
            <a:spAutoFit/>
          </a:bodyPr>
          <a:lstStyle/>
          <a:p>
            <a:pPr algn="ctr"/>
            <a:r>
              <a:rPr sz="1100" b="0" i="0">
                <a:solidFill>
                  <a:srgbClr val="CAE9FF"/>
                </a:solidFill>
              </a:rPr>
              <a:t>3–13 mots</a:t>
            </a:r>
          </a:p>
        </p:txBody>
      </p:sp>
      <p:sp>
        <p:nvSpPr>
          <p:cNvPr id="17" name="TextBox 16"/>
          <p:cNvSpPr txBox="1"/>
          <p:nvPr/>
        </p:nvSpPr>
        <p:spPr>
          <a:xfrm>
            <a:off x="320040" y="5120640"/>
            <a:ext cx="2743200" cy="228600"/>
          </a:xfrm>
          <a:prstGeom prst="rect">
            <a:avLst/>
          </a:prstGeom>
          <a:noFill/>
        </p:spPr>
        <p:txBody>
          <a:bodyPr wrap="square">
            <a:spAutoFit/>
          </a:bodyPr>
          <a:lstStyle/>
          <a:p>
            <a:pPr algn="ctr"/>
            <a:r>
              <a:rPr sz="1300" b="1" i="0">
                <a:solidFill>
                  <a:srgbClr val="FF6B6B"/>
                </a:solidFill>
              </a:rPr>
              <a:t>~11 %</a:t>
            </a:r>
          </a:p>
        </p:txBody>
      </p:sp>
      <p:sp>
        <p:nvSpPr>
          <p:cNvPr id="18" name="Rectangle 17"/>
          <p:cNvSpPr/>
          <p:nvPr/>
        </p:nvSpPr>
        <p:spPr>
          <a:xfrm>
            <a:off x="3127248" y="4800600"/>
            <a:ext cx="2743200" cy="548640"/>
          </a:xfrm>
          <a:prstGeom prst="rect">
            <a:avLst/>
          </a:prstGeom>
          <a:solidFill>
            <a:srgbClr val="15283A"/>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27248" y="4828032"/>
            <a:ext cx="2743200" cy="274320"/>
          </a:xfrm>
          <a:prstGeom prst="rect">
            <a:avLst/>
          </a:prstGeom>
          <a:noFill/>
        </p:spPr>
        <p:txBody>
          <a:bodyPr wrap="square">
            <a:spAutoFit/>
          </a:bodyPr>
          <a:lstStyle/>
          <a:p>
            <a:pPr algn="ctr"/>
            <a:r>
              <a:rPr sz="1100" b="0" i="0">
                <a:solidFill>
                  <a:srgbClr val="CAE9FF"/>
                </a:solidFill>
              </a:rPr>
              <a:t>14–20 mots</a:t>
            </a:r>
          </a:p>
        </p:txBody>
      </p:sp>
      <p:sp>
        <p:nvSpPr>
          <p:cNvPr id="20" name="TextBox 19"/>
          <p:cNvSpPr txBox="1"/>
          <p:nvPr/>
        </p:nvSpPr>
        <p:spPr>
          <a:xfrm>
            <a:off x="3127248" y="5120640"/>
            <a:ext cx="2743200" cy="228600"/>
          </a:xfrm>
          <a:prstGeom prst="rect">
            <a:avLst/>
          </a:prstGeom>
          <a:noFill/>
        </p:spPr>
        <p:txBody>
          <a:bodyPr wrap="square">
            <a:spAutoFit/>
          </a:bodyPr>
          <a:lstStyle/>
          <a:p>
            <a:pPr algn="ctr"/>
            <a:r>
              <a:rPr sz="1300" b="1" i="0">
                <a:solidFill>
                  <a:srgbClr val="FFD166"/>
                </a:solidFill>
              </a:rPr>
              <a:t>~9 %</a:t>
            </a:r>
          </a:p>
        </p:txBody>
      </p:sp>
      <p:sp>
        <p:nvSpPr>
          <p:cNvPr id="21" name="Rectangle 20"/>
          <p:cNvSpPr/>
          <p:nvPr/>
        </p:nvSpPr>
        <p:spPr>
          <a:xfrm>
            <a:off x="5934456" y="4800600"/>
            <a:ext cx="2743200" cy="548640"/>
          </a:xfrm>
          <a:prstGeom prst="rect">
            <a:avLst/>
          </a:prstGeom>
          <a:solidFill>
            <a:srgbClr val="15283A"/>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34456" y="4828032"/>
            <a:ext cx="2743200" cy="274320"/>
          </a:xfrm>
          <a:prstGeom prst="rect">
            <a:avLst/>
          </a:prstGeom>
          <a:noFill/>
        </p:spPr>
        <p:txBody>
          <a:bodyPr wrap="square">
            <a:spAutoFit/>
          </a:bodyPr>
          <a:lstStyle/>
          <a:p>
            <a:pPr algn="ctr"/>
            <a:r>
              <a:rPr sz="1100" b="0" i="0">
                <a:solidFill>
                  <a:srgbClr val="CAE9FF"/>
                </a:solidFill>
              </a:rPr>
              <a:t>21–28 mots</a:t>
            </a:r>
          </a:p>
        </p:txBody>
      </p:sp>
      <p:sp>
        <p:nvSpPr>
          <p:cNvPr id="23" name="TextBox 22"/>
          <p:cNvSpPr txBox="1"/>
          <p:nvPr/>
        </p:nvSpPr>
        <p:spPr>
          <a:xfrm>
            <a:off x="5934456" y="5120640"/>
            <a:ext cx="2743200" cy="228600"/>
          </a:xfrm>
          <a:prstGeom prst="rect">
            <a:avLst/>
          </a:prstGeom>
          <a:noFill/>
        </p:spPr>
        <p:txBody>
          <a:bodyPr wrap="square">
            <a:spAutoFit/>
          </a:bodyPr>
          <a:lstStyle/>
          <a:p>
            <a:pPr algn="ctr"/>
            <a:r>
              <a:rPr sz="1300" b="1" i="0">
                <a:solidFill>
                  <a:srgbClr val="FFD166"/>
                </a:solidFill>
              </a:rPr>
              <a:t>~7 %</a:t>
            </a:r>
          </a:p>
        </p:txBody>
      </p:sp>
      <p:sp>
        <p:nvSpPr>
          <p:cNvPr id="24" name="Rectangle 23"/>
          <p:cNvSpPr/>
          <p:nvPr/>
        </p:nvSpPr>
        <p:spPr>
          <a:xfrm>
            <a:off x="8741664" y="4800600"/>
            <a:ext cx="2743200" cy="548640"/>
          </a:xfrm>
          <a:prstGeom prst="rect">
            <a:avLst/>
          </a:prstGeom>
          <a:solidFill>
            <a:srgbClr val="15283A"/>
          </a:solidFill>
          <a:ln>
            <a:solidFill>
              <a:srgbClr val="06D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41664" y="4828032"/>
            <a:ext cx="2743200" cy="274320"/>
          </a:xfrm>
          <a:prstGeom prst="rect">
            <a:avLst/>
          </a:prstGeom>
          <a:noFill/>
        </p:spPr>
        <p:txBody>
          <a:bodyPr wrap="square">
            <a:spAutoFit/>
          </a:bodyPr>
          <a:lstStyle/>
          <a:p>
            <a:pPr algn="ctr"/>
            <a:r>
              <a:rPr sz="1100" b="0" i="0">
                <a:solidFill>
                  <a:srgbClr val="CAE9FF"/>
                </a:solidFill>
              </a:rPr>
              <a:t>29–38 mots</a:t>
            </a:r>
          </a:p>
        </p:txBody>
      </p:sp>
      <p:sp>
        <p:nvSpPr>
          <p:cNvPr id="26" name="TextBox 25"/>
          <p:cNvSpPr txBox="1"/>
          <p:nvPr/>
        </p:nvSpPr>
        <p:spPr>
          <a:xfrm>
            <a:off x="8741664" y="5120640"/>
            <a:ext cx="2743200" cy="228600"/>
          </a:xfrm>
          <a:prstGeom prst="rect">
            <a:avLst/>
          </a:prstGeom>
          <a:noFill/>
        </p:spPr>
        <p:txBody>
          <a:bodyPr wrap="square">
            <a:spAutoFit/>
          </a:bodyPr>
          <a:lstStyle/>
          <a:p>
            <a:pPr algn="ctr"/>
            <a:r>
              <a:rPr sz="1300" b="1" i="0">
                <a:solidFill>
                  <a:srgbClr val="06D6A0"/>
                </a:solidFill>
              </a:rPr>
              <a:t>&lt; 6 %</a:t>
            </a:r>
          </a:p>
        </p:txBody>
      </p:sp>
      <p:sp>
        <p:nvSpPr>
          <p:cNvPr id="27" name="TextBox 26"/>
          <p:cNvSpPr txBox="1"/>
          <p:nvPr/>
        </p:nvSpPr>
        <p:spPr>
          <a:xfrm>
            <a:off x="320040" y="5486400"/>
            <a:ext cx="11521440" cy="347472"/>
          </a:xfrm>
          <a:prstGeom prst="rect">
            <a:avLst/>
          </a:prstGeom>
          <a:noFill/>
        </p:spPr>
        <p:txBody>
          <a:bodyPr wrap="square">
            <a:spAutoFit/>
          </a:bodyPr>
          <a:lstStyle/>
          <a:p>
            <a:pPr algn="l"/>
            <a:r>
              <a:rPr sz="1200" b="0" i="1">
                <a:solidFill>
                  <a:srgbClr val="FFD166"/>
                </a:solidFill>
              </a:rPr>
              <a:t>→ Recommandation : orienter les textes de moins de 15 mots vers une revue humaine</a:t>
            </a:r>
          </a:p>
        </p:txBody>
      </p:sp>
      <p:sp>
        <p:nvSpPr>
          <p:cNvPr id="28" name="TextBox 27"/>
          <p:cNvSpPr txBox="1"/>
          <p:nvPr/>
        </p:nvSpPr>
        <p:spPr>
          <a:xfrm>
            <a:off x="320040" y="5870448"/>
            <a:ext cx="11521440" cy="347472"/>
          </a:xfrm>
          <a:prstGeom prst="rect">
            <a:avLst/>
          </a:prstGeom>
          <a:noFill/>
        </p:spPr>
        <p:txBody>
          <a:bodyPr wrap="square">
            <a:spAutoFit/>
          </a:bodyPr>
          <a:lstStyle/>
          <a:p>
            <a:pPr algn="l"/>
            <a:r>
              <a:rPr sz="1150" b="0" i="1">
                <a:solidFill>
                  <a:srgbClr val="CAE9FF"/>
                </a:solidFill>
              </a:rPr>
              <a:t>   (taux d'erreur &gt; 10 % sur ces textes — contexte linguistique insuffisant)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286000"/>
            <a:ext cx="1280160"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280160" cy="1188720"/>
          </a:xfrm>
          <a:prstGeom prst="rect">
            <a:avLst/>
          </a:prstGeom>
          <a:noFill/>
        </p:spPr>
        <p:txBody>
          <a:bodyPr wrap="square">
            <a:spAutoFit/>
          </a:bodyPr>
          <a:lstStyle/>
          <a:p>
            <a:pPr algn="ctr"/>
            <a:r>
              <a:rPr sz="4400" b="1" i="0">
                <a:solidFill>
                  <a:srgbClr val="0D1B2A"/>
                </a:solidFill>
              </a:rPr>
              <a:t>07</a:t>
            </a:r>
          </a:p>
        </p:txBody>
      </p:sp>
      <p:sp>
        <p:nvSpPr>
          <p:cNvPr id="5" name="TextBox 4"/>
          <p:cNvSpPr txBox="1"/>
          <p:nvPr/>
        </p:nvSpPr>
        <p:spPr>
          <a:xfrm>
            <a:off x="2011680" y="2286000"/>
            <a:ext cx="9601200" cy="1005840"/>
          </a:xfrm>
          <a:prstGeom prst="rect">
            <a:avLst/>
          </a:prstGeom>
          <a:noFill/>
        </p:spPr>
        <p:txBody>
          <a:bodyPr wrap="square">
            <a:spAutoFit/>
          </a:bodyPr>
          <a:lstStyle/>
          <a:p>
            <a:pPr algn="l"/>
            <a:r>
              <a:rPr sz="3600" b="1" i="0">
                <a:solidFill>
                  <a:srgbClr val="FFFFFF"/>
                </a:solidFill>
              </a:rPr>
              <a:t>Conclusion &amp; Perspectives</a:t>
            </a:r>
          </a:p>
        </p:txBody>
      </p:sp>
      <p:sp>
        <p:nvSpPr>
          <p:cNvPr id="6" name="TextBox 5"/>
          <p:cNvSpPr txBox="1"/>
          <p:nvPr/>
        </p:nvSpPr>
        <p:spPr>
          <a:xfrm>
            <a:off x="2011680" y="3337560"/>
            <a:ext cx="9601200" cy="640080"/>
          </a:xfrm>
          <a:prstGeom prst="rect">
            <a:avLst/>
          </a:prstGeom>
          <a:noFill/>
        </p:spPr>
        <p:txBody>
          <a:bodyPr wrap="square">
            <a:spAutoFit/>
          </a:bodyPr>
          <a:lstStyle/>
          <a:p>
            <a:pPr algn="l"/>
            <a:r>
              <a:rPr sz="1600" b="0" i="1">
                <a:solidFill>
                  <a:srgbClr val="CAE9FF"/>
                </a:solidFill>
              </a:rPr>
              <a:t>Bilan des contributions · Limites identifiées · Travaux futurs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Conclusion — Bilan des Contributions</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Quatre enseignements principaux de ce travail</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005840"/>
            <a:ext cx="5760720" cy="2377440"/>
          </a:xfrm>
          <a:prstGeom prst="rect">
            <a:avLst/>
          </a:prstGeom>
          <a:solidFill>
            <a:srgbClr val="15283A"/>
          </a:solidFill>
          <a:ln>
            <a:solidFill>
              <a:srgbClr val="06D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005840"/>
            <a:ext cx="548640" cy="237744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737360"/>
            <a:ext cx="548640" cy="822960"/>
          </a:xfrm>
          <a:prstGeom prst="rect">
            <a:avLst/>
          </a:prstGeom>
          <a:noFill/>
        </p:spPr>
        <p:txBody>
          <a:bodyPr wrap="square">
            <a:spAutoFit/>
          </a:bodyPr>
          <a:lstStyle/>
          <a:p>
            <a:pPr algn="ctr"/>
            <a:r>
              <a:rPr sz="2200" b="1" i="0">
                <a:solidFill>
                  <a:srgbClr val="0D1B2A"/>
                </a:solidFill>
              </a:rPr>
              <a:t>01</a:t>
            </a:r>
          </a:p>
        </p:txBody>
      </p:sp>
      <p:sp>
        <p:nvSpPr>
          <p:cNvPr id="11" name="TextBox 10"/>
          <p:cNvSpPr txBox="1"/>
          <p:nvPr/>
        </p:nvSpPr>
        <p:spPr>
          <a:xfrm>
            <a:off x="960120" y="1143000"/>
            <a:ext cx="5029200" cy="457200"/>
          </a:xfrm>
          <a:prstGeom prst="rect">
            <a:avLst/>
          </a:prstGeom>
          <a:noFill/>
        </p:spPr>
        <p:txBody>
          <a:bodyPr wrap="square">
            <a:spAutoFit/>
          </a:bodyPr>
          <a:lstStyle/>
          <a:p>
            <a:pPr algn="l"/>
            <a:r>
              <a:rPr sz="1300" b="1" i="0">
                <a:solidFill>
                  <a:srgbClr val="06D6A0"/>
                </a:solidFill>
              </a:rPr>
              <a:t>SVM + TF-IDF = meilleur modèle (93,9 %)</a:t>
            </a:r>
          </a:p>
        </p:txBody>
      </p:sp>
      <p:sp>
        <p:nvSpPr>
          <p:cNvPr id="12" name="TextBox 11"/>
          <p:cNvSpPr txBox="1"/>
          <p:nvPr/>
        </p:nvSpPr>
        <p:spPr>
          <a:xfrm>
            <a:off x="960120" y="1645920"/>
            <a:ext cx="5029200" cy="1554480"/>
          </a:xfrm>
          <a:prstGeom prst="rect">
            <a:avLst/>
          </a:prstGeom>
          <a:noFill/>
        </p:spPr>
        <p:txBody>
          <a:bodyPr wrap="square">
            <a:spAutoFit/>
          </a:bodyPr>
          <a:lstStyle/>
          <a:p>
            <a:pPr algn="l"/>
            <a:r>
              <a:rPr sz="1100" b="0" i="0">
                <a:solidFill>
                  <a:srgbClr val="CAE9FF"/>
                </a:solidFill>
              </a:rPr>
              <a:t>Les modèles classiques bien calibrés restent très compétitifs sur la détection de désinformation en textes courts à vocabulaire contrôlé. Ne pas les ignorer.</a:t>
            </a:r>
          </a:p>
        </p:txBody>
      </p:sp>
      <p:sp>
        <p:nvSpPr>
          <p:cNvPr id="13" name="Rectangle 12"/>
          <p:cNvSpPr/>
          <p:nvPr/>
        </p:nvSpPr>
        <p:spPr>
          <a:xfrm>
            <a:off x="6309360" y="1005840"/>
            <a:ext cx="5760720" cy="237744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005840"/>
            <a:ext cx="548640" cy="23774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737360"/>
            <a:ext cx="548640" cy="822960"/>
          </a:xfrm>
          <a:prstGeom prst="rect">
            <a:avLst/>
          </a:prstGeom>
          <a:noFill/>
        </p:spPr>
        <p:txBody>
          <a:bodyPr wrap="square">
            <a:spAutoFit/>
          </a:bodyPr>
          <a:lstStyle/>
          <a:p>
            <a:pPr algn="ctr"/>
            <a:r>
              <a:rPr sz="2200" b="1" i="0">
                <a:solidFill>
                  <a:srgbClr val="0D1B2A"/>
                </a:solidFill>
              </a:rPr>
              <a:t>02</a:t>
            </a:r>
          </a:p>
        </p:txBody>
      </p:sp>
      <p:sp>
        <p:nvSpPr>
          <p:cNvPr id="16" name="TextBox 15"/>
          <p:cNvSpPr txBox="1"/>
          <p:nvPr/>
        </p:nvSpPr>
        <p:spPr>
          <a:xfrm>
            <a:off x="6949440" y="1143000"/>
            <a:ext cx="5029200" cy="457200"/>
          </a:xfrm>
          <a:prstGeom prst="rect">
            <a:avLst/>
          </a:prstGeom>
          <a:noFill/>
        </p:spPr>
        <p:txBody>
          <a:bodyPr wrap="square">
            <a:spAutoFit/>
          </a:bodyPr>
          <a:lstStyle/>
          <a:p>
            <a:pPr algn="l"/>
            <a:r>
              <a:rPr sz="1300" b="1" i="0">
                <a:solidFill>
                  <a:srgbClr val="00B4D8"/>
                </a:solidFill>
              </a:rPr>
              <a:t>DistilBERT = meilleure calibration probabiliste (AUC 0,976)</a:t>
            </a:r>
          </a:p>
        </p:txBody>
      </p:sp>
      <p:sp>
        <p:nvSpPr>
          <p:cNvPr id="17" name="TextBox 16"/>
          <p:cNvSpPr txBox="1"/>
          <p:nvPr/>
        </p:nvSpPr>
        <p:spPr>
          <a:xfrm>
            <a:off x="6949440" y="1645920"/>
            <a:ext cx="5029200" cy="1554480"/>
          </a:xfrm>
          <a:prstGeom prst="rect">
            <a:avLst/>
          </a:prstGeom>
          <a:noFill/>
        </p:spPr>
        <p:txBody>
          <a:bodyPr wrap="square">
            <a:spAutoFit/>
          </a:bodyPr>
          <a:lstStyle/>
          <a:p>
            <a:pPr algn="l"/>
            <a:r>
              <a:rPr sz="1100" b="0" i="0">
                <a:solidFill>
                  <a:srgbClr val="CAE9FF"/>
                </a:solidFill>
              </a:rPr>
              <a:t>La compréhension contextuelle profonde offre une meilleure calibration de probabilité et une interprétabilité supérieure via l'attention, sans forcément dominer en accuracy.</a:t>
            </a:r>
          </a:p>
        </p:txBody>
      </p:sp>
      <p:sp>
        <p:nvSpPr>
          <p:cNvPr id="18" name="Rectangle 17"/>
          <p:cNvSpPr/>
          <p:nvPr/>
        </p:nvSpPr>
        <p:spPr>
          <a:xfrm>
            <a:off x="320040" y="3566160"/>
            <a:ext cx="5760720" cy="2377440"/>
          </a:xfrm>
          <a:prstGeom prst="rect">
            <a:avLst/>
          </a:prstGeom>
          <a:solidFill>
            <a:srgbClr val="15283A"/>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566160"/>
            <a:ext cx="548640" cy="237744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297680"/>
            <a:ext cx="548640" cy="822960"/>
          </a:xfrm>
          <a:prstGeom prst="rect">
            <a:avLst/>
          </a:prstGeom>
          <a:noFill/>
        </p:spPr>
        <p:txBody>
          <a:bodyPr wrap="square">
            <a:spAutoFit/>
          </a:bodyPr>
          <a:lstStyle/>
          <a:p>
            <a:pPr algn="ctr"/>
            <a:r>
              <a:rPr sz="2200" b="1" i="0">
                <a:solidFill>
                  <a:srgbClr val="0D1B2A"/>
                </a:solidFill>
              </a:rPr>
              <a:t>03</a:t>
            </a:r>
          </a:p>
        </p:txBody>
      </p:sp>
      <p:sp>
        <p:nvSpPr>
          <p:cNvPr id="21" name="TextBox 20"/>
          <p:cNvSpPr txBox="1"/>
          <p:nvPr/>
        </p:nvSpPr>
        <p:spPr>
          <a:xfrm>
            <a:off x="960120" y="3703320"/>
            <a:ext cx="5029200" cy="457200"/>
          </a:xfrm>
          <a:prstGeom prst="rect">
            <a:avLst/>
          </a:prstGeom>
          <a:noFill/>
        </p:spPr>
        <p:txBody>
          <a:bodyPr wrap="square">
            <a:spAutoFit/>
          </a:bodyPr>
          <a:lstStyle/>
          <a:p>
            <a:pPr algn="l"/>
            <a:r>
              <a:rPr sz="1300" b="1" i="0">
                <a:solidFill>
                  <a:srgbClr val="FFD166"/>
                </a:solidFill>
              </a:rPr>
              <a:t>LIME &amp; Attention révèlent des biais critiques</a:t>
            </a:r>
          </a:p>
        </p:txBody>
      </p:sp>
      <p:sp>
        <p:nvSpPr>
          <p:cNvPr id="22" name="TextBox 21"/>
          <p:cNvSpPr txBox="1"/>
          <p:nvPr/>
        </p:nvSpPr>
        <p:spPr>
          <a:xfrm>
            <a:off x="960120" y="4206240"/>
            <a:ext cx="5029200" cy="1554480"/>
          </a:xfrm>
          <a:prstGeom prst="rect">
            <a:avLst/>
          </a:prstGeom>
          <a:noFill/>
        </p:spPr>
        <p:txBody>
          <a:bodyPr wrap="square">
            <a:spAutoFit/>
          </a:bodyPr>
          <a:lstStyle/>
          <a:p>
            <a:pPr algn="l"/>
            <a:r>
              <a:rPr sz="1100" b="0" i="0">
                <a:solidFill>
                  <a:srgbClr val="CAE9FF"/>
                </a:solidFill>
              </a:rPr>
              <a:t>Les modèles exploitent des marqueurs ethniques et politiques comme prédicteurs de fake. Ceci constitue un risque de fairness avant tout déploiement.</a:t>
            </a:r>
          </a:p>
        </p:txBody>
      </p:sp>
      <p:sp>
        <p:nvSpPr>
          <p:cNvPr id="23" name="Rectangle 22"/>
          <p:cNvSpPr/>
          <p:nvPr/>
        </p:nvSpPr>
        <p:spPr>
          <a:xfrm>
            <a:off x="6309360" y="3566160"/>
            <a:ext cx="5760720" cy="2377440"/>
          </a:xfrm>
          <a:prstGeom prst="rect">
            <a:avLst/>
          </a:prstGeom>
          <a:solidFill>
            <a:srgbClr val="15283A"/>
          </a:solidFill>
          <a:ln>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3566160"/>
            <a:ext cx="548640" cy="237744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4297680"/>
            <a:ext cx="548640" cy="822960"/>
          </a:xfrm>
          <a:prstGeom prst="rect">
            <a:avLst/>
          </a:prstGeom>
          <a:noFill/>
        </p:spPr>
        <p:txBody>
          <a:bodyPr wrap="square">
            <a:spAutoFit/>
          </a:bodyPr>
          <a:lstStyle/>
          <a:p>
            <a:pPr algn="ctr"/>
            <a:r>
              <a:rPr sz="2200" b="1" i="0">
                <a:solidFill>
                  <a:srgbClr val="0D1B2A"/>
                </a:solidFill>
              </a:rPr>
              <a:t>04</a:t>
            </a:r>
          </a:p>
        </p:txBody>
      </p:sp>
      <p:sp>
        <p:nvSpPr>
          <p:cNvPr id="26" name="TextBox 25"/>
          <p:cNvSpPr txBox="1"/>
          <p:nvPr/>
        </p:nvSpPr>
        <p:spPr>
          <a:xfrm>
            <a:off x="6949440" y="3703320"/>
            <a:ext cx="5029200" cy="457200"/>
          </a:xfrm>
          <a:prstGeom prst="rect">
            <a:avLst/>
          </a:prstGeom>
          <a:noFill/>
        </p:spPr>
        <p:txBody>
          <a:bodyPr wrap="square">
            <a:spAutoFit/>
          </a:bodyPr>
          <a:lstStyle/>
          <a:p>
            <a:pPr algn="l"/>
            <a:r>
              <a:rPr sz="1300" b="1" i="0">
                <a:solidFill>
                  <a:srgbClr val="FF6B6B"/>
                </a:solidFill>
              </a:rPr>
              <a:t>Textes courts = principal mode d'échec</a:t>
            </a:r>
          </a:p>
        </p:txBody>
      </p:sp>
      <p:sp>
        <p:nvSpPr>
          <p:cNvPr id="27" name="TextBox 26"/>
          <p:cNvSpPr txBox="1"/>
          <p:nvPr/>
        </p:nvSpPr>
        <p:spPr>
          <a:xfrm>
            <a:off x="6949440" y="4206240"/>
            <a:ext cx="5029200" cy="1554480"/>
          </a:xfrm>
          <a:prstGeom prst="rect">
            <a:avLst/>
          </a:prstGeom>
          <a:noFill/>
        </p:spPr>
        <p:txBody>
          <a:bodyPr wrap="square">
            <a:spAutoFit/>
          </a:bodyPr>
          <a:lstStyle/>
          <a:p>
            <a:pPr algn="l"/>
            <a:r>
              <a:rPr sz="1100" b="0" i="0">
                <a:solidFill>
                  <a:srgbClr val="CAE9FF"/>
                </a:solidFill>
              </a:rPr>
              <a:t>Taux d'erreur &gt; 10 % pour les textes &lt; 13 mots. Recommandation : architecture hybride avec intervention humaine pour les publications très courtes.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Perspectives &amp; Travaux Futurs</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77240"/>
            <a:ext cx="11612880" cy="365760"/>
          </a:xfrm>
          <a:prstGeom prst="rect">
            <a:avLst/>
          </a:prstGeom>
          <a:noFill/>
        </p:spPr>
        <p:txBody>
          <a:bodyPr wrap="square">
            <a:spAutoFit/>
          </a:bodyPr>
          <a:lstStyle/>
          <a:p>
            <a:pPr algn="l"/>
            <a:r>
              <a:rPr sz="1200" b="0" i="1">
                <a:solidFill>
                  <a:srgbClr val="CAE9FF"/>
                </a:solidFill>
              </a:rPr>
              <a:t>Quatre axes d'amélioration identifiés</a:t>
            </a:r>
          </a:p>
        </p:txBody>
      </p:sp>
      <p:sp>
        <p:nvSpPr>
          <p:cNvPr id="7" name="Rectangle 6"/>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005840"/>
            <a:ext cx="5760720" cy="2377440"/>
          </a:xfrm>
          <a:prstGeom prst="rect">
            <a:avLst/>
          </a:prstGeom>
          <a:solidFill>
            <a:srgbClr val="15283A"/>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43000"/>
            <a:ext cx="5486400" cy="594360"/>
          </a:xfrm>
          <a:prstGeom prst="rect">
            <a:avLst/>
          </a:prstGeom>
          <a:noFill/>
        </p:spPr>
        <p:txBody>
          <a:bodyPr wrap="square">
            <a:spAutoFit/>
          </a:bodyPr>
          <a:lstStyle/>
          <a:p>
            <a:pPr algn="l"/>
            <a:r>
              <a:rPr sz="1500" b="1" i="0">
                <a:solidFill>
                  <a:srgbClr val="00B4D8"/>
                </a:solidFill>
              </a:rPr>
              <a:t>Extension
Multimodale</a:t>
            </a:r>
          </a:p>
        </p:txBody>
      </p:sp>
      <p:sp>
        <p:nvSpPr>
          <p:cNvPr id="10" name="Rectangle 9"/>
          <p:cNvSpPr/>
          <p:nvPr/>
        </p:nvSpPr>
        <p:spPr>
          <a:xfrm>
            <a:off x="457200" y="1755648"/>
            <a:ext cx="5394960"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847088"/>
            <a:ext cx="5486400" cy="1417320"/>
          </a:xfrm>
          <a:prstGeom prst="rect">
            <a:avLst/>
          </a:prstGeom>
          <a:noFill/>
        </p:spPr>
        <p:txBody>
          <a:bodyPr wrap="square">
            <a:spAutoFit/>
          </a:bodyPr>
          <a:lstStyle/>
          <a:p>
            <a:pPr algn="l"/>
            <a:r>
              <a:rPr sz="1100" b="0" i="0">
                <a:solidFill>
                  <a:srgbClr val="CAE9FF"/>
                </a:solidFill>
              </a:rPr>
              <a:t>Les fake news sont de plus en plus diffusées avec images et vidéos. Intégrer des features visuelles (CLIP, ViT) et des métadonnées sociales (profil de l'auteur, historique de partage) améliorerait significativement les performances.</a:t>
            </a:r>
          </a:p>
        </p:txBody>
      </p:sp>
      <p:sp>
        <p:nvSpPr>
          <p:cNvPr id="12" name="Rectangle 11"/>
          <p:cNvSpPr/>
          <p:nvPr/>
        </p:nvSpPr>
        <p:spPr>
          <a:xfrm>
            <a:off x="6309360" y="1005840"/>
            <a:ext cx="5760720" cy="2377440"/>
          </a:xfrm>
          <a:prstGeom prst="rect">
            <a:avLst/>
          </a:prstGeom>
          <a:solidFill>
            <a:srgbClr val="15283A"/>
          </a:solidFill>
          <a:ln>
            <a:solidFill>
              <a:srgbClr val="06D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143000"/>
            <a:ext cx="5486400" cy="594360"/>
          </a:xfrm>
          <a:prstGeom prst="rect">
            <a:avLst/>
          </a:prstGeom>
          <a:noFill/>
        </p:spPr>
        <p:txBody>
          <a:bodyPr wrap="square">
            <a:spAutoFit/>
          </a:bodyPr>
          <a:lstStyle/>
          <a:p>
            <a:pPr algn="l"/>
            <a:r>
              <a:rPr sz="1500" b="1" i="0">
                <a:solidFill>
                  <a:srgbClr val="06D6A0"/>
                </a:solidFill>
              </a:rPr>
              <a:t>Généralisation
Multilingue</a:t>
            </a:r>
          </a:p>
        </p:txBody>
      </p:sp>
      <p:sp>
        <p:nvSpPr>
          <p:cNvPr id="14" name="Rectangle 13"/>
          <p:cNvSpPr/>
          <p:nvPr/>
        </p:nvSpPr>
        <p:spPr>
          <a:xfrm>
            <a:off x="6446520" y="1755648"/>
            <a:ext cx="5394960" cy="19050"/>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847088"/>
            <a:ext cx="5486400" cy="1417320"/>
          </a:xfrm>
          <a:prstGeom prst="rect">
            <a:avLst/>
          </a:prstGeom>
          <a:noFill/>
        </p:spPr>
        <p:txBody>
          <a:bodyPr wrap="square">
            <a:spAutoFit/>
          </a:bodyPr>
          <a:lstStyle/>
          <a:p>
            <a:pPr algn="l"/>
            <a:r>
              <a:rPr sz="1100" b="0" i="0">
                <a:solidFill>
                  <a:srgbClr val="CAE9FF"/>
                </a:solidFill>
              </a:rPr>
              <a:t>L'infodémie COVID-19 était globale — française, arabe, mandarine. Fine-tuner des modèles multilingues (mBERT, XLM-R) sur des corpus multilingues (CLEF CheckThat!) élargirait l'applicabilité du système.</a:t>
            </a:r>
          </a:p>
        </p:txBody>
      </p:sp>
      <p:sp>
        <p:nvSpPr>
          <p:cNvPr id="16" name="Rectangle 15"/>
          <p:cNvSpPr/>
          <p:nvPr/>
        </p:nvSpPr>
        <p:spPr>
          <a:xfrm>
            <a:off x="320040" y="3566160"/>
            <a:ext cx="5760720" cy="2377440"/>
          </a:xfrm>
          <a:prstGeom prst="rect">
            <a:avLst/>
          </a:prstGeom>
          <a:solidFill>
            <a:srgbClr val="15283A"/>
          </a:solidFill>
          <a:ln>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703320"/>
            <a:ext cx="5486400" cy="594360"/>
          </a:xfrm>
          <a:prstGeom prst="rect">
            <a:avLst/>
          </a:prstGeom>
          <a:noFill/>
        </p:spPr>
        <p:txBody>
          <a:bodyPr wrap="square">
            <a:spAutoFit/>
          </a:bodyPr>
          <a:lstStyle/>
          <a:p>
            <a:pPr algn="l"/>
            <a:r>
              <a:rPr sz="1500" b="1" i="0">
                <a:solidFill>
                  <a:srgbClr val="FFD166"/>
                </a:solidFill>
              </a:rPr>
              <a:t>Robustesse
Temporelle</a:t>
            </a:r>
          </a:p>
        </p:txBody>
      </p:sp>
      <p:sp>
        <p:nvSpPr>
          <p:cNvPr id="18" name="Rectangle 17"/>
          <p:cNvSpPr/>
          <p:nvPr/>
        </p:nvSpPr>
        <p:spPr>
          <a:xfrm>
            <a:off x="457200" y="4315968"/>
            <a:ext cx="5394960" cy="1905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407408"/>
            <a:ext cx="5486400" cy="1417320"/>
          </a:xfrm>
          <a:prstGeom prst="rect">
            <a:avLst/>
          </a:prstGeom>
          <a:noFill/>
        </p:spPr>
        <p:txBody>
          <a:bodyPr wrap="square">
            <a:spAutoFit/>
          </a:bodyPr>
          <a:lstStyle/>
          <a:p>
            <a:pPr algn="l"/>
            <a:r>
              <a:rPr sz="1100" b="0" i="0">
                <a:solidFill>
                  <a:srgbClr val="CAE9FF"/>
                </a:solidFill>
              </a:rPr>
              <a:t>La désinformation évolue dans le temps (des origines du virus à l'hésitation vaccinale). Des stratégies d'apprentissage continu ou de réentraînement périodique maintiendraient la performance face à ces changements.</a:t>
            </a:r>
          </a:p>
        </p:txBody>
      </p:sp>
      <p:sp>
        <p:nvSpPr>
          <p:cNvPr id="20" name="Rectangle 19"/>
          <p:cNvSpPr/>
          <p:nvPr/>
        </p:nvSpPr>
        <p:spPr>
          <a:xfrm>
            <a:off x="6309360" y="3566160"/>
            <a:ext cx="5760720" cy="2377440"/>
          </a:xfrm>
          <a:prstGeom prst="rect">
            <a:avLst/>
          </a:prstGeom>
          <a:solidFill>
            <a:srgbClr val="15283A"/>
          </a:solidFill>
          <a:ln>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703320"/>
            <a:ext cx="5486400" cy="594360"/>
          </a:xfrm>
          <a:prstGeom prst="rect">
            <a:avLst/>
          </a:prstGeom>
          <a:noFill/>
        </p:spPr>
        <p:txBody>
          <a:bodyPr wrap="square">
            <a:spAutoFit/>
          </a:bodyPr>
          <a:lstStyle/>
          <a:p>
            <a:pPr algn="l"/>
            <a:r>
              <a:rPr sz="1500" b="1" i="0">
                <a:solidFill>
                  <a:srgbClr val="FF6B6B"/>
                </a:solidFill>
              </a:rPr>
              <a:t>Mitigation
des Biais</a:t>
            </a:r>
          </a:p>
        </p:txBody>
      </p:sp>
      <p:sp>
        <p:nvSpPr>
          <p:cNvPr id="22" name="Rectangle 21"/>
          <p:cNvSpPr/>
          <p:nvPr/>
        </p:nvSpPr>
        <p:spPr>
          <a:xfrm>
            <a:off x="6446520" y="4315968"/>
            <a:ext cx="5394960" cy="1905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4407408"/>
            <a:ext cx="5486400" cy="1417320"/>
          </a:xfrm>
          <a:prstGeom prst="rect">
            <a:avLst/>
          </a:prstGeom>
          <a:noFill/>
        </p:spPr>
        <p:txBody>
          <a:bodyPr wrap="square">
            <a:spAutoFit/>
          </a:bodyPr>
          <a:lstStyle/>
          <a:p>
            <a:pPr algn="l"/>
            <a:r>
              <a:rPr sz="1100" b="0" i="0">
                <a:solidFill>
                  <a:srgbClr val="CAE9FF"/>
                </a:solidFill>
              </a:rPr>
              <a:t>L'analyse d'explicabilité révèle des biais démographiques. L'augmentation de données contrefactuelles et le débiaisage adversarial pourraient réduire la dépendance aux identificateurs géographiques/ethniques.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612880" cy="594360"/>
          </a:xfrm>
          <a:prstGeom prst="rect">
            <a:avLst/>
          </a:prstGeom>
          <a:noFill/>
        </p:spPr>
        <p:txBody>
          <a:bodyPr wrap="square">
            <a:spAutoFit/>
          </a:bodyPr>
          <a:lstStyle/>
          <a:p>
            <a:pPr algn="l"/>
            <a:r>
              <a:rPr sz="2200" b="1" i="0">
                <a:solidFill>
                  <a:srgbClr val="FFFFFF"/>
                </a:solidFill>
              </a:rPr>
              <a:t>Références Bibliographiques</a:t>
            </a:r>
          </a:p>
        </p:txBody>
      </p:sp>
      <p:sp>
        <p:nvSpPr>
          <p:cNvPr id="5" name="Rectangle 4"/>
          <p:cNvSpPr/>
          <p:nvPr/>
        </p:nvSpPr>
        <p:spPr>
          <a:xfrm>
            <a:off x="320040" y="749808"/>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3136"/>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760720" cy="530352"/>
          </a:xfrm>
          <a:prstGeom prst="rect">
            <a:avLst/>
          </a:prstGeom>
          <a:noFill/>
        </p:spPr>
        <p:txBody>
          <a:bodyPr wrap="square">
            <a:spAutoFit/>
          </a:bodyPr>
          <a:lstStyle/>
          <a:p>
            <a:pPr algn="l"/>
            <a:r>
              <a:rPr sz="1100" b="0" i="0">
                <a:solidFill>
                  <a:srgbClr val="CAE9FF"/>
                </a:solidFill>
              </a:rPr>
              <a:t>[1] OMS, Situation Report, 2020.</a:t>
            </a:r>
          </a:p>
        </p:txBody>
      </p:sp>
      <p:sp>
        <p:nvSpPr>
          <p:cNvPr id="8" name="TextBox 7"/>
          <p:cNvSpPr txBox="1"/>
          <p:nvPr/>
        </p:nvSpPr>
        <p:spPr>
          <a:xfrm>
            <a:off x="365760" y="1572768"/>
            <a:ext cx="5760720" cy="530352"/>
          </a:xfrm>
          <a:prstGeom prst="rect">
            <a:avLst/>
          </a:prstGeom>
          <a:noFill/>
        </p:spPr>
        <p:txBody>
          <a:bodyPr wrap="square">
            <a:spAutoFit/>
          </a:bodyPr>
          <a:lstStyle/>
          <a:p>
            <a:pPr algn="l"/>
            <a:r>
              <a:rPr sz="1100" b="0" i="0">
                <a:solidFill>
                  <a:srgbClr val="CAE9FF"/>
                </a:solidFill>
              </a:rPr>
              <a:t>[2] Sharma et al., ACM TIST 2019.</a:t>
            </a:r>
          </a:p>
        </p:txBody>
      </p:sp>
      <p:sp>
        <p:nvSpPr>
          <p:cNvPr id="9" name="TextBox 8"/>
          <p:cNvSpPr txBox="1"/>
          <p:nvPr/>
        </p:nvSpPr>
        <p:spPr>
          <a:xfrm>
            <a:off x="365760" y="2139696"/>
            <a:ext cx="5760720" cy="530352"/>
          </a:xfrm>
          <a:prstGeom prst="rect">
            <a:avLst/>
          </a:prstGeom>
          <a:noFill/>
        </p:spPr>
        <p:txBody>
          <a:bodyPr wrap="square">
            <a:spAutoFit/>
          </a:bodyPr>
          <a:lstStyle/>
          <a:p>
            <a:pPr algn="l"/>
            <a:r>
              <a:rPr sz="1100" b="0" i="0">
                <a:solidFill>
                  <a:srgbClr val="CAE9FF"/>
                </a:solidFill>
              </a:rPr>
              <a:t>[3] Pérez-Rosas et al., COLING 2018.</a:t>
            </a:r>
          </a:p>
        </p:txBody>
      </p:sp>
      <p:sp>
        <p:nvSpPr>
          <p:cNvPr id="10" name="TextBox 9"/>
          <p:cNvSpPr txBox="1"/>
          <p:nvPr/>
        </p:nvSpPr>
        <p:spPr>
          <a:xfrm>
            <a:off x="365760" y="2706624"/>
            <a:ext cx="5760720" cy="530352"/>
          </a:xfrm>
          <a:prstGeom prst="rect">
            <a:avLst/>
          </a:prstGeom>
          <a:noFill/>
        </p:spPr>
        <p:txBody>
          <a:bodyPr wrap="square">
            <a:spAutoFit/>
          </a:bodyPr>
          <a:lstStyle/>
          <a:p>
            <a:pPr algn="l"/>
            <a:r>
              <a:rPr sz="1100" b="0" i="0">
                <a:solidFill>
                  <a:srgbClr val="CAE9FF"/>
                </a:solidFill>
              </a:rPr>
              <a:t>[4] Devlin et al. BERT, NAACL 2019.</a:t>
            </a:r>
          </a:p>
        </p:txBody>
      </p:sp>
      <p:sp>
        <p:nvSpPr>
          <p:cNvPr id="11" name="TextBox 10"/>
          <p:cNvSpPr txBox="1"/>
          <p:nvPr/>
        </p:nvSpPr>
        <p:spPr>
          <a:xfrm>
            <a:off x="365760" y="3273552"/>
            <a:ext cx="5760720" cy="530352"/>
          </a:xfrm>
          <a:prstGeom prst="rect">
            <a:avLst/>
          </a:prstGeom>
          <a:noFill/>
        </p:spPr>
        <p:txBody>
          <a:bodyPr wrap="square">
            <a:spAutoFit/>
          </a:bodyPr>
          <a:lstStyle/>
          <a:p>
            <a:pPr algn="l"/>
            <a:r>
              <a:rPr sz="1100" b="0" i="0">
                <a:solidFill>
                  <a:srgbClr val="CAE9FF"/>
                </a:solidFill>
              </a:rPr>
              <a:t>[5] Sanh et al. DistilBERT, arXiv 2019.</a:t>
            </a:r>
          </a:p>
        </p:txBody>
      </p:sp>
      <p:sp>
        <p:nvSpPr>
          <p:cNvPr id="12" name="TextBox 11"/>
          <p:cNvSpPr txBox="1"/>
          <p:nvPr/>
        </p:nvSpPr>
        <p:spPr>
          <a:xfrm>
            <a:off x="365760" y="3840480"/>
            <a:ext cx="5760720" cy="530352"/>
          </a:xfrm>
          <a:prstGeom prst="rect">
            <a:avLst/>
          </a:prstGeom>
          <a:noFill/>
        </p:spPr>
        <p:txBody>
          <a:bodyPr wrap="square">
            <a:spAutoFit/>
          </a:bodyPr>
          <a:lstStyle/>
          <a:p>
            <a:pPr algn="l"/>
            <a:r>
              <a:rPr sz="1100" b="0" i="0">
                <a:solidFill>
                  <a:srgbClr val="CAE9FF"/>
                </a:solidFill>
              </a:rPr>
              <a:t>[6] Ribeiro et al. LIME, KDD 2016.</a:t>
            </a:r>
          </a:p>
        </p:txBody>
      </p:sp>
      <p:sp>
        <p:nvSpPr>
          <p:cNvPr id="13" name="TextBox 12"/>
          <p:cNvSpPr txBox="1"/>
          <p:nvPr/>
        </p:nvSpPr>
        <p:spPr>
          <a:xfrm>
            <a:off x="365760" y="4407408"/>
            <a:ext cx="5760720" cy="530352"/>
          </a:xfrm>
          <a:prstGeom prst="rect">
            <a:avLst/>
          </a:prstGeom>
          <a:noFill/>
        </p:spPr>
        <p:txBody>
          <a:bodyPr wrap="square">
            <a:spAutoFit/>
          </a:bodyPr>
          <a:lstStyle/>
          <a:p>
            <a:pPr algn="l"/>
            <a:r>
              <a:rPr sz="1100" b="0" i="0">
                <a:solidFill>
                  <a:srgbClr val="CAE9FF"/>
                </a:solidFill>
              </a:rPr>
              <a:t>[7] Lundberg &amp; Lee SHAP, NeurIPS 2017.</a:t>
            </a:r>
          </a:p>
        </p:txBody>
      </p:sp>
      <p:sp>
        <p:nvSpPr>
          <p:cNvPr id="14" name="TextBox 13"/>
          <p:cNvSpPr txBox="1"/>
          <p:nvPr/>
        </p:nvSpPr>
        <p:spPr>
          <a:xfrm>
            <a:off x="365760" y="4974336"/>
            <a:ext cx="5760720" cy="530352"/>
          </a:xfrm>
          <a:prstGeom prst="rect">
            <a:avLst/>
          </a:prstGeom>
          <a:noFill/>
        </p:spPr>
        <p:txBody>
          <a:bodyPr wrap="square">
            <a:spAutoFit/>
          </a:bodyPr>
          <a:lstStyle/>
          <a:p>
            <a:pPr algn="l"/>
            <a:r>
              <a:rPr sz="1100" b="0" i="0">
                <a:solidFill>
                  <a:srgbClr val="CAE9FF"/>
                </a:solidFill>
              </a:rPr>
              <a:t>[8] Pomerleau, FakeNewsChallenge 2017.</a:t>
            </a:r>
          </a:p>
        </p:txBody>
      </p:sp>
      <p:sp>
        <p:nvSpPr>
          <p:cNvPr id="15" name="TextBox 14"/>
          <p:cNvSpPr txBox="1"/>
          <p:nvPr/>
        </p:nvSpPr>
        <p:spPr>
          <a:xfrm>
            <a:off x="365760" y="5541264"/>
            <a:ext cx="5760720" cy="530352"/>
          </a:xfrm>
          <a:prstGeom prst="rect">
            <a:avLst/>
          </a:prstGeom>
          <a:noFill/>
        </p:spPr>
        <p:txBody>
          <a:bodyPr wrap="square">
            <a:spAutoFit/>
          </a:bodyPr>
          <a:lstStyle/>
          <a:p>
            <a:pPr algn="l"/>
            <a:r>
              <a:rPr sz="1100" b="0" i="0">
                <a:solidFill>
                  <a:srgbClr val="CAE9FF"/>
                </a:solidFill>
              </a:rPr>
              <a:t>[9] Rashkin et al., EMNLP 2017.</a:t>
            </a:r>
          </a:p>
        </p:txBody>
      </p:sp>
      <p:sp>
        <p:nvSpPr>
          <p:cNvPr id="16" name="TextBox 15"/>
          <p:cNvSpPr txBox="1"/>
          <p:nvPr/>
        </p:nvSpPr>
        <p:spPr>
          <a:xfrm>
            <a:off x="6400800" y="1005840"/>
            <a:ext cx="5577840" cy="530352"/>
          </a:xfrm>
          <a:prstGeom prst="rect">
            <a:avLst/>
          </a:prstGeom>
          <a:noFill/>
        </p:spPr>
        <p:txBody>
          <a:bodyPr wrap="square">
            <a:spAutoFit/>
          </a:bodyPr>
          <a:lstStyle/>
          <a:p>
            <a:pPr algn="l"/>
            <a:r>
              <a:rPr sz="1100" b="0" i="0">
                <a:solidFill>
                  <a:srgbClr val="CAE9FF"/>
                </a:solidFill>
              </a:rPr>
              <a:t>[10] Volkova et al., ACL 2017.</a:t>
            </a:r>
          </a:p>
        </p:txBody>
      </p:sp>
      <p:sp>
        <p:nvSpPr>
          <p:cNvPr id="17" name="TextBox 16"/>
          <p:cNvSpPr txBox="1"/>
          <p:nvPr/>
        </p:nvSpPr>
        <p:spPr>
          <a:xfrm>
            <a:off x="6400800" y="1572768"/>
            <a:ext cx="5577840" cy="530352"/>
          </a:xfrm>
          <a:prstGeom prst="rect">
            <a:avLst/>
          </a:prstGeom>
          <a:noFill/>
        </p:spPr>
        <p:txBody>
          <a:bodyPr wrap="square">
            <a:spAutoFit/>
          </a:bodyPr>
          <a:lstStyle/>
          <a:p>
            <a:pPr algn="l"/>
            <a:r>
              <a:rPr sz="1100" b="0" i="0">
                <a:solidFill>
                  <a:srgbClr val="CAE9FF"/>
                </a:solidFill>
              </a:rPr>
              <a:t>[11] Kula et al., ICCS 2020.</a:t>
            </a:r>
          </a:p>
        </p:txBody>
      </p:sp>
      <p:sp>
        <p:nvSpPr>
          <p:cNvPr id="18" name="TextBox 17"/>
          <p:cNvSpPr txBox="1"/>
          <p:nvPr/>
        </p:nvSpPr>
        <p:spPr>
          <a:xfrm>
            <a:off x="6400800" y="2139696"/>
            <a:ext cx="5577840" cy="530352"/>
          </a:xfrm>
          <a:prstGeom prst="rect">
            <a:avLst/>
          </a:prstGeom>
          <a:noFill/>
        </p:spPr>
        <p:txBody>
          <a:bodyPr wrap="square">
            <a:spAutoFit/>
          </a:bodyPr>
          <a:lstStyle/>
          <a:p>
            <a:pPr algn="l"/>
            <a:r>
              <a:rPr sz="1100" b="0" i="0">
                <a:solidFill>
                  <a:srgbClr val="CAE9FF"/>
                </a:solidFill>
              </a:rPr>
              <a:t>[12] Goldani et al., App. Soft Comp. 2021.</a:t>
            </a:r>
          </a:p>
        </p:txBody>
      </p:sp>
      <p:sp>
        <p:nvSpPr>
          <p:cNvPr id="19" name="TextBox 18"/>
          <p:cNvSpPr txBox="1"/>
          <p:nvPr/>
        </p:nvSpPr>
        <p:spPr>
          <a:xfrm>
            <a:off x="6400800" y="2706624"/>
            <a:ext cx="5577840" cy="530352"/>
          </a:xfrm>
          <a:prstGeom prst="rect">
            <a:avLst/>
          </a:prstGeom>
          <a:noFill/>
        </p:spPr>
        <p:txBody>
          <a:bodyPr wrap="square">
            <a:spAutoFit/>
          </a:bodyPr>
          <a:lstStyle/>
          <a:p>
            <a:pPr algn="l"/>
            <a:r>
              <a:rPr sz="1100" b="0" i="0">
                <a:solidFill>
                  <a:srgbClr val="CAE9FF"/>
                </a:solidFill>
              </a:rPr>
              <a:t>[13] Patwa et al. Constraint, AAAI 2021.</a:t>
            </a:r>
          </a:p>
        </p:txBody>
      </p:sp>
      <p:sp>
        <p:nvSpPr>
          <p:cNvPr id="20" name="TextBox 19"/>
          <p:cNvSpPr txBox="1"/>
          <p:nvPr/>
        </p:nvSpPr>
        <p:spPr>
          <a:xfrm>
            <a:off x="6400800" y="3273552"/>
            <a:ext cx="5577840" cy="530352"/>
          </a:xfrm>
          <a:prstGeom prst="rect">
            <a:avLst/>
          </a:prstGeom>
          <a:noFill/>
        </p:spPr>
        <p:txBody>
          <a:bodyPr wrap="square">
            <a:spAutoFit/>
          </a:bodyPr>
          <a:lstStyle/>
          <a:p>
            <a:pPr algn="l"/>
            <a:r>
              <a:rPr sz="1100" b="0" i="0">
                <a:solidFill>
                  <a:srgbClr val="CAE9FF"/>
                </a:solidFill>
              </a:rPr>
              <a:t>[14] Popat et al., WWW 2018.</a:t>
            </a:r>
          </a:p>
        </p:txBody>
      </p:sp>
      <p:sp>
        <p:nvSpPr>
          <p:cNvPr id="21" name="TextBox 20"/>
          <p:cNvSpPr txBox="1"/>
          <p:nvPr/>
        </p:nvSpPr>
        <p:spPr>
          <a:xfrm>
            <a:off x="6400800" y="3840480"/>
            <a:ext cx="5577840" cy="530352"/>
          </a:xfrm>
          <a:prstGeom prst="rect">
            <a:avLst/>
          </a:prstGeom>
          <a:noFill/>
        </p:spPr>
        <p:txBody>
          <a:bodyPr wrap="square">
            <a:spAutoFit/>
          </a:bodyPr>
          <a:lstStyle/>
          <a:p>
            <a:pPr algn="l"/>
            <a:r>
              <a:rPr sz="1100" b="0" i="0">
                <a:solidFill>
                  <a:srgbClr val="CAE9FF"/>
                </a:solidFill>
              </a:rPr>
              <a:t>[15] Jain &amp; Wallace, NAACL 2019.</a:t>
            </a:r>
          </a:p>
        </p:txBody>
      </p:sp>
      <p:sp>
        <p:nvSpPr>
          <p:cNvPr id="22" name="TextBox 21"/>
          <p:cNvSpPr txBox="1"/>
          <p:nvPr/>
        </p:nvSpPr>
        <p:spPr>
          <a:xfrm>
            <a:off x="6400800" y="4407408"/>
            <a:ext cx="5577840" cy="530352"/>
          </a:xfrm>
          <a:prstGeom prst="rect">
            <a:avLst/>
          </a:prstGeom>
          <a:noFill/>
        </p:spPr>
        <p:txBody>
          <a:bodyPr wrap="square">
            <a:spAutoFit/>
          </a:bodyPr>
          <a:lstStyle/>
          <a:p>
            <a:pPr algn="l"/>
            <a:r>
              <a:rPr sz="1100" b="0" i="0">
                <a:solidFill>
                  <a:srgbClr val="CAE9FF"/>
                </a:solidFill>
              </a:rPr>
              <a:t>[16] Joachims, ECML 1998.</a:t>
            </a:r>
          </a:p>
        </p:txBody>
      </p:sp>
      <p:sp>
        <p:nvSpPr>
          <p:cNvPr id="23" name="TextBox 22"/>
          <p:cNvSpPr txBox="1"/>
          <p:nvPr/>
        </p:nvSpPr>
        <p:spPr>
          <a:xfrm>
            <a:off x="6400800" y="4974336"/>
            <a:ext cx="5577840" cy="530352"/>
          </a:xfrm>
          <a:prstGeom prst="rect">
            <a:avLst/>
          </a:prstGeom>
          <a:noFill/>
        </p:spPr>
        <p:txBody>
          <a:bodyPr wrap="square">
            <a:spAutoFit/>
          </a:bodyPr>
          <a:lstStyle/>
          <a:p>
            <a:pPr algn="l"/>
            <a:r>
              <a:rPr sz="1100" b="0" i="0">
                <a:solidFill>
                  <a:srgbClr val="CAE9FF"/>
                </a:solidFill>
              </a:rPr>
              <a:t>[17] Nakov et al., CLEF 2021.</a:t>
            </a:r>
          </a:p>
        </p:txBody>
      </p:sp>
      <p:sp>
        <p:nvSpPr>
          <p:cNvPr id="24" name="Rectangle 23"/>
          <p:cNvSpPr/>
          <p:nvPr/>
        </p:nvSpPr>
        <p:spPr>
          <a:xfrm>
            <a:off x="320040" y="6080760"/>
            <a:ext cx="1152144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172200"/>
            <a:ext cx="11521440" cy="365760"/>
          </a:xfrm>
          <a:prstGeom prst="rect">
            <a:avLst/>
          </a:prstGeom>
          <a:noFill/>
        </p:spPr>
        <p:txBody>
          <a:bodyPr wrap="square">
            <a:spAutoFit/>
          </a:bodyPr>
          <a:lstStyle/>
          <a:p>
            <a:pPr algn="ctr"/>
            <a:r>
              <a:rPr sz="1100" b="0" i="0">
                <a:solidFill>
                  <a:srgbClr val="00B4D8"/>
                </a:solidFill>
              </a:rPr>
              <a:t>Pipeline complet, modèles entraînés et application web disponibles sur GitHub : github.com/Youssefmab/fake-news-detection-project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